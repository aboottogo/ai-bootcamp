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65" r:id="rId2"/>
    <p:sldId id="266" r:id="rId3"/>
    <p:sldId id="268" r:id="rId4"/>
    <p:sldId id="267" r:id="rId5"/>
    <p:sldId id="256" r:id="rId6"/>
    <p:sldId id="257" r:id="rId7"/>
    <p:sldId id="258" r:id="rId8"/>
    <p:sldId id="259" r:id="rId9"/>
    <p:sldId id="260" r:id="rId10"/>
    <p:sldId id="261" r:id="rId11"/>
    <p:sldId id="262" r:id="rId12"/>
    <p:sldId id="263" r:id="rId13"/>
    <p:sldId id="264"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81781"/>
  </p:normalViewPr>
  <p:slideViewPr>
    <p:cSldViewPr snapToGrid="0" snapToObjects="1">
      <p:cViewPr>
        <p:scale>
          <a:sx n="136" d="100"/>
          <a:sy n="136" d="100"/>
        </p:scale>
        <p:origin x="864" y="200"/>
      </p:cViewPr>
      <p:guideLst/>
    </p:cSldViewPr>
  </p:slideViewPr>
  <p:notesTextViewPr>
    <p:cViewPr>
      <p:scale>
        <a:sx n="1" d="1"/>
        <a:sy n="1" d="1"/>
      </p:scale>
      <p:origin x="0" y="0"/>
    </p:cViewPr>
  </p:notesTextViewPr>
  <p:notesViewPr>
    <p:cSldViewPr snapToGrid="0" snapToObjects="1">
      <p:cViewPr varScale="1">
        <p:scale>
          <a:sx n="96" d="100"/>
          <a:sy n="96" d="100"/>
        </p:scale>
        <p:origin x="4208"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3174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 The Problem With Static
This slide sets up the core motivation for everything we're about to learn tonight.
Walk through the two panels like a story:
• LEFT PANEL: "Last week, you built a static website and put it on the internet using GitHub Pages. That was a huge accomplishment. But imagine you built an expense tracker. You type in 'Coffee — $4.50.' It shows up on the screen. Looks great."
• RIGHT PANEL: "Now you close the tab. Or refresh the page. And... it's gone. The data just disappears. That's because GitHub Pages serves the exact same HTML file every time — it's like a photocopy machine. It doesn't know who you are or what you did."
Key point to emphasize: This isn't a bug. It's a fundamental limitation. Static sites can't store or retrieve data. They're read-only experiences.
The question to pose: "So how do we build something that actually remembers? That's what tonight is about."
Transition: "To understand how we fix this, let's look at what a dynamic app actually looks like under the hood."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 What Makes an App Dynamic?
This is the foundational mental model for the entire night. Take your time with it.
Walk through the three columns:
• FRONTEND: "This is the part users actually see — the buttons, the forms, the layout. Last week, this was all we built. HTML and CSS living in your browser."
• HOSTING: "This is the service that takes your code and puts it on the internet so anyone can visit it. Last week, GitHub Pages did this for our static site. Tonight, we'll use a tool called Vercel."
• DATABASE: "This is the new piece. This is what remembers. When you type in an expense, the frontend sends it to the database. When you come back later, the database sends it back. This is why your data doesn't disappear."
Key analogy: "Think of a restaurant. The frontend is the dining room — it's what the customer sees. The database is the kitchen — it's where the actual work gets stored and prepared. Hosting is the building itself — it's what makes the whole thing accessible to people walking by on the street."
Important: Emphasize the TWO-WAY arrows. Static sites are one-way (server sends files to browser, end of story). Dynamic apps have a back-and-forth conversation.
Transition: "So now that we know the three pieces, let me show you the specific tools that fill each role tonight."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3: Meet the New Tools
This is the payoff of the previous slide. Point out that the layout is identical — you're just filling in the blanks.
Walk through each tool:
• REACT (Frontend): "React is what Cursor will use to build the visible part of your app — the buttons, forms, and pages. It was created by Facebook and is the most popular way to build web interfaces today. You don't need to learn React — Cursor writes it for you. But you'll hear the word a lot, so now you know what it means."
• VERCEL (Hosting): "Vercel is a hosting platform. It replaces GitHub Pages for tonight. The big difference: Vercel can host dynamic apps, not just static files. And it has a killer feature — every time you push code to GitHub, Vercel automatically re-deploys your site. Push code, site updates. That's it."
• INSTANTDB (Database): "InstantDB is the database service we'll use. Think of it as a cloud spreadsheet that your app can read from and write to. The special thing about InstantDB is that it's real-time — when data changes, your app updates instantly. No refresh needed. You'll set up an InstantDB account tonight and connect it to your app."
Key emphasis: "Notice that none of these tools require you to manage a server. That's the beauty of modern web development — you plug these services together and they handle the heavy lifting."
Transition: "Let's zoom in on React for a moment, since that's what Cursor is going to generate for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4: What Is React?
This slide demystifies React for people who have never coded. The goal is NOT to teach React — it's to give students enough of a mental model that they aren't confused when they see the word.
Walk through the mockup:
• Point to the dashed outlines: "See how the app is broken into sections? The header, the form, the list, the total? In React, each of those is called a component. A component is just a reusable building block."
• "The powerful thing is that each component manages its own little world. The form component knows how to accept input. The list component knows how to display items. They can talk to each other, but they're independent pieces."
• "If you wanted to add a second page to your app — say, a settings page — you'd just add new components. You don't have to rewrite everything."
Key reassurance: "You do NOT need to learn React. Cursor writes all of this for you. When you tell Cursor 'I want an expense tracker with a form and a list,' it generates these components automatically. I'm showing you this so that when you look at the code Cursor produces, you'll have some idea what you're looking at."
Analogy if helpful: "Think of LEGO bricks. Each component is a brick. Your app is the assembled set. You can rearrange the bricks without breaking the whole thing."
Transition: "Now, you might hear three terms used together — React, Node.js, and Next.js. Let me quickly explain how they relate to each other."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5: React, Node.js, and Next.js
This slide exists because students WILL see all three of these terms — in Cursor's output, in error messages, in documentation — and confusing them is a common source of anxiety. The goal is a 60-second explanation, not a deep dive.
Walk through the stack from bottom to top:
• NODE.JS (bottom, widest): "Node.js is a runtime — it lets JavaScript, the programming language of the web, run outside of a browser. Normally JavaScript only runs in Chrome or Firefox. Node.js is what lets it run on your laptop, on a server, in build tools. It's the foundation everything else sits on."
• REACT (middle): "React is a library built on top of Node.js. It's specifically designed for building user interfaces — the visual part of your app. We just talked about this: components, building blocks, etc."
• NEXT.JS (top, narrowest): "Next.js is a framework built on top of React. It adds structure — things like page routing (so you can have /home and /settings), server-side features, and easy deployment to Vercel. When Cursor generates a project for you tonight, it will almost certainly generate a Next.js project."
Use the car analogy on the right: "Node.js is the engine — it powers everything. React is the steering wheel — it's how you control what the user sees. Next.js is the whole car — it packages everything together into something you can actually drive."
Key reassurance: "You don't need to memorize this. Just know that these three terms are layers that build on each other. They're not competing tools — they're a stack."
Transition: "OK, so we know the tools. Now let's see how data actually flows through your app when a user does something."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6: How Data Flows
This is the most important conceptual slide. Walk through each step deliberately, pointing at the screen.
Narrate a concrete example:
• STEP 1: "You're using your expense tracker. You type 'Coffee — $4.50' and hit the Add button. That's a user action."
• STEP 2: "Your React app takes that data and sends it to InstantDB over the internet. This happens automatically — the code Cursor wrote handles it."
• STEP 3: "InstantDB receives the data and saves it in your database. It's now stored permanently. Close the tab, come back tomorrow — it's still there."
• STEP 4: "Here's the magic: InstantDB doesn't just save it — it pushes the update back to your app in real time. And not just to you — if someone else is looking at the same data, they see the update too."
• STEP 5: "Your screen updates instantly. The new expense appears in your list. No refresh needed."
Key emphasis: "This is a LOOP, not a one-time event. Every time a user does something — adds an item, edits a record, deletes something — this cycle repeats. That's what makes the app feel alive and responsive."
Connect back to Slide 1: "Remember the static site problem? Data disappeared when you refreshed. This loop is the solution. Step 3 — 'InstantDB saves it' — is the key difference. Your data now lives somewhere permanent."
Transition: "So that's what happens at runtime — when a user is actually using your app. But what about right now? What is Cursor actually building?"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7: What Cursor Is Building Right Now
This slide serves a dual purpose: it fills time while Cursor works, and it demystifies what's happening so students aren't just staring at a wall of code.
Walk through the three cards:
• YOUR PAGES &amp; BUTTONS: "The first thing Cursor generates is the visual layer — all the React components we just talked about. The header, the forms, the lists, the buttons. This is the biggest chunk of code, and it's what determines what your app looks like."
• DATABASE CONNECTION: "Next, Cursor writes the 'glue' code — the parts that connect your React components to InstantDB. This is the code that says 'when the user clicks Add, send this data to the database' and 'when data changes, update the screen.' This is the data flow loop we just looked at."
• DEPLOY CONFIG: "Finally, Cursor generates configuration files. These tell Vercel how to build your app, where to find your code, and how to serve it. Think of it as the instruction manual that Vercel reads."
API KEY CALLOUT: "One thing you'll need to do manually: get an API key from InstantDB. This is like a mailing address — it tells your app which database to talk to. You'll copy it from the InstantDB dashboard and paste it into a file called .env (short for 'environment variables'). The reason we use .env is that it keeps the key private — it won't get uploaded to GitHub where anyone could see it."
If students ask about .env: "The .env file is like a sticky note on the inside of your locker door. Your app can read it, but nobody walking down the hall can see it. If you put your API key directly in your code and pushed it to GitHub, it would be like writing your locker combination on the outside of the door."
Transition: "Let's zoom all the way out and see the complete picture — every piece and how they connect."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8: The Full Picture
This is the culmination slide — the zoom-out moment. Walk through the flow left to right, top to bottom.
Step by step:
• STEP 1 — YOU WRITE A PROMPT: "Everything starts with you telling Cursor what you want. Something like 'Build me an expense tracker where users can add expenses, categorize them, and see monthly totals. Use InstantDB for the database.' That's it. That's your starting point."
• STEP 2 — CURSOR GENERATES A NEXT.JS APP: "Cursor takes your prompt and writes a complete application — React components, database connection code, configuration files. It creates a whole project folder on your computer."
• STEP 3 — CODE PUSHED TO GITHUB: "You push that code to GitHub, just like you did last week with your static site. Same commands: git add, git commit, git push. The code is now stored in your repository."
• STEP 4 — VERCEL AUTO-DEPLOYS: "Here's where the magic happens. Vercel is connected to your GitHub repo. Every time you push code, Vercel automatically detects it, builds your app, and deploys it. No manual steps."
• STEP 5 — USER VISITS LIVE URL: "Your app is now live at a URL like your-app.vercel.app. Anyone in the world can visit it."
• STEP 6 — APP READS/WRITES VIA INSTANTDB: "When a user interacts with your app — adding an expense, deleting a record — the app communicates with InstantDB behind the scenes. That's the data flow loop from Slide 6."
The big-picture point: "Look at what you're doing tonight. You're going from a blank prompt to a live, data-driven web application. Last week you built a static site. Tonight you're building something that remembers, responds, and works like a real product."
Close with energy: "This is the exact same architecture behind apps you use every day — just simpler. The tools are different, but the pattern is identical. And now you know how it works."
After this slide, transition to hands-on work: "OK, let's check in on Cursor and see how your apps are coming along."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046AA-4A8F-A528-8DEA-B252E753FA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5182AF-4476-83B8-5618-EDBF44E244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DE6ED2-2A23-1D5E-CAC2-73F53E62EE94}"/>
              </a:ext>
            </a:extLst>
          </p:cNvPr>
          <p:cNvSpPr>
            <a:spLocks noGrp="1"/>
          </p:cNvSpPr>
          <p:nvPr>
            <p:ph type="dt" sz="half" idx="10"/>
          </p:nvPr>
        </p:nvSpPr>
        <p:spPr/>
        <p:txBody>
          <a:bodyPr/>
          <a:lstStyle/>
          <a:p>
            <a:fld id="{7B9EB2AC-6D53-3F48-A434-437B8316FAA2}" type="datetimeFigureOut">
              <a:rPr lang="en-US" smtClean="0"/>
              <a:t>3/10/26</a:t>
            </a:fld>
            <a:endParaRPr lang="en-US"/>
          </a:p>
        </p:txBody>
      </p:sp>
      <p:sp>
        <p:nvSpPr>
          <p:cNvPr id="5" name="Footer Placeholder 4">
            <a:extLst>
              <a:ext uri="{FF2B5EF4-FFF2-40B4-BE49-F238E27FC236}">
                <a16:creationId xmlns:a16="http://schemas.microsoft.com/office/drawing/2014/main" id="{214B096C-E593-E7D6-D18B-26B7033B27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EB02B8-7C08-F253-C763-B2F672F415EC}"/>
              </a:ext>
            </a:extLst>
          </p:cNvPr>
          <p:cNvSpPr>
            <a:spLocks noGrp="1"/>
          </p:cNvSpPr>
          <p:nvPr>
            <p:ph type="sldNum" sz="quarter" idx="12"/>
          </p:nvPr>
        </p:nvSpPr>
        <p:spPr/>
        <p:txBody>
          <a:bodyPr/>
          <a:lstStyle/>
          <a:p>
            <a:fld id="{80DC127D-A3B7-4F4F-8ADA-95AFB7639BDC}" type="slidenum">
              <a:rPr lang="en-US" smtClean="0"/>
              <a:t>‹#›</a:t>
            </a:fld>
            <a:endParaRPr lang="en-US"/>
          </a:p>
        </p:txBody>
      </p:sp>
    </p:spTree>
    <p:extLst>
      <p:ext uri="{BB962C8B-B14F-4D97-AF65-F5344CB8AC3E}">
        <p14:creationId xmlns:p14="http://schemas.microsoft.com/office/powerpoint/2010/main" val="33515332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12.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80A1B2-1F61-BC16-471C-45CC3CC670F3}"/>
              </a:ext>
            </a:extLst>
          </p:cNvPr>
          <p:cNvSpPr txBox="1"/>
          <p:nvPr/>
        </p:nvSpPr>
        <p:spPr>
          <a:xfrm>
            <a:off x="774700" y="304800"/>
            <a:ext cx="7156320" cy="646331"/>
          </a:xfrm>
          <a:prstGeom prst="rect">
            <a:avLst/>
          </a:prstGeom>
          <a:noFill/>
        </p:spPr>
        <p:txBody>
          <a:bodyPr wrap="square" rtlCol="0">
            <a:spAutoFit/>
          </a:bodyPr>
          <a:lstStyle/>
          <a:p>
            <a:r>
              <a:rPr lang="en-US" sz="3600" dirty="0"/>
              <a:t>AI Bootcamp – Meeting 2</a:t>
            </a:r>
          </a:p>
        </p:txBody>
      </p:sp>
      <p:sp>
        <p:nvSpPr>
          <p:cNvPr id="3" name="Content Placeholder 2">
            <a:extLst>
              <a:ext uri="{FF2B5EF4-FFF2-40B4-BE49-F238E27FC236}">
                <a16:creationId xmlns:a16="http://schemas.microsoft.com/office/drawing/2014/main" id="{FF7FD1CC-56AA-72F5-52C5-C1E0481566EB}"/>
              </a:ext>
            </a:extLst>
          </p:cNvPr>
          <p:cNvSpPr txBox="1">
            <a:spLocks/>
          </p:cNvSpPr>
          <p:nvPr/>
        </p:nvSpPr>
        <p:spPr>
          <a:xfrm>
            <a:off x="298580" y="951131"/>
            <a:ext cx="8509518" cy="368618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000" dirty="0"/>
              <a:t>Sit next others with the same operating system (Mac or Windows).</a:t>
            </a:r>
          </a:p>
          <a:p>
            <a:pPr lvl="1"/>
            <a:r>
              <a:rPr lang="en-US" sz="2000" b="1" dirty="0"/>
              <a:t>Help each other if you get stuck. </a:t>
            </a:r>
          </a:p>
          <a:p>
            <a:pPr marL="0" indent="0">
              <a:buFont typeface="Arial" pitchFamily="34" charset="0"/>
              <a:buNone/>
            </a:pPr>
            <a:r>
              <a:rPr lang="en-US" sz="2000" dirty="0"/>
              <a:t>Open </a:t>
            </a:r>
            <a:r>
              <a:rPr lang="en-US" sz="2000" b="1" dirty="0" err="1">
                <a:highlight>
                  <a:srgbClr val="00FFFF"/>
                </a:highlight>
              </a:rPr>
              <a:t>www.aboottogo.github.io</a:t>
            </a:r>
            <a:r>
              <a:rPr lang="en-US" sz="2000" b="1" dirty="0">
                <a:highlight>
                  <a:srgbClr val="00FFFF"/>
                </a:highlight>
              </a:rPr>
              <a:t>/ai-bootcamp</a:t>
            </a:r>
            <a:r>
              <a:rPr lang="en-US" sz="2000" dirty="0"/>
              <a:t>. Keep this open. </a:t>
            </a:r>
          </a:p>
          <a:p>
            <a:pPr marL="0" indent="0">
              <a:buFont typeface="Arial" pitchFamily="34" charset="0"/>
              <a:buNone/>
            </a:pPr>
            <a:r>
              <a:rPr lang="en-US" sz="2000" dirty="0"/>
              <a:t>You should have completed:</a:t>
            </a:r>
          </a:p>
          <a:p>
            <a:pPr lvl="1"/>
            <a:r>
              <a:rPr lang="en-US" sz="2000" dirty="0"/>
              <a:t>Node.js installed (Exercise 7 on </a:t>
            </a:r>
            <a:r>
              <a:rPr lang="en-US" sz="2000" b="1" dirty="0"/>
              <a:t>Our Tools</a:t>
            </a:r>
            <a:r>
              <a:rPr lang="en-US" sz="2000" dirty="0"/>
              <a:t>)</a:t>
            </a:r>
          </a:p>
          <a:p>
            <a:pPr lvl="1"/>
            <a:r>
              <a:rPr lang="en-US" sz="2000" dirty="0"/>
              <a:t>An account on </a:t>
            </a:r>
            <a:r>
              <a:rPr lang="en-US" sz="2000" dirty="0" err="1"/>
              <a:t>InstantDB.com</a:t>
            </a:r>
            <a:endParaRPr lang="en-US" sz="2000" dirty="0"/>
          </a:p>
          <a:p>
            <a:pPr lvl="1"/>
            <a:r>
              <a:rPr lang="en-US" sz="2000" dirty="0"/>
              <a:t>An account on </a:t>
            </a:r>
            <a:r>
              <a:rPr lang="en-US" sz="2000" dirty="0" err="1"/>
              <a:t>Vercel.com</a:t>
            </a:r>
            <a:endParaRPr lang="en-US" sz="2000" dirty="0"/>
          </a:p>
          <a:p>
            <a:pPr marL="0" indent="0">
              <a:buFont typeface="Arial" pitchFamily="34" charset="0"/>
              <a:buNone/>
            </a:pPr>
            <a:r>
              <a:rPr lang="en-US" sz="2000" dirty="0"/>
              <a:t>No pizza or soda in the classroom.</a:t>
            </a:r>
          </a:p>
          <a:p>
            <a:pPr marL="0" indent="0">
              <a:buFont typeface="Arial" pitchFamily="34" charset="0"/>
              <a:buNone/>
            </a:pPr>
            <a:r>
              <a:rPr lang="en-US" sz="2000" dirty="0"/>
              <a:t>Please sign in</a:t>
            </a:r>
          </a:p>
        </p:txBody>
      </p:sp>
    </p:spTree>
    <p:extLst>
      <p:ext uri="{BB962C8B-B14F-4D97-AF65-F5344CB8AC3E}">
        <p14:creationId xmlns:p14="http://schemas.microsoft.com/office/powerpoint/2010/main" val="15070763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newspaper&#10;&#10;AI-generated content may be incorrect.">
            <a:extLst>
              <a:ext uri="{FF2B5EF4-FFF2-40B4-BE49-F238E27FC236}">
                <a16:creationId xmlns:a16="http://schemas.microsoft.com/office/drawing/2014/main" id="{D5F31F60-F8A7-45C6-54AE-2339DBBF4740}"/>
              </a:ext>
            </a:extLst>
          </p:cNvPr>
          <p:cNvPicPr>
            <a:picLocks noChangeAspect="1"/>
          </p:cNvPicPr>
          <p:nvPr/>
        </p:nvPicPr>
        <p:blipFill>
          <a:blip r:embed="rId2"/>
          <a:stretch>
            <a:fillRect/>
          </a:stretch>
        </p:blipFill>
        <p:spPr>
          <a:xfrm>
            <a:off x="570126" y="485196"/>
            <a:ext cx="7772400" cy="4994827"/>
          </a:xfrm>
          <a:prstGeom prst="rect">
            <a:avLst/>
          </a:prstGeom>
        </p:spPr>
      </p:pic>
    </p:spTree>
    <p:extLst>
      <p:ext uri="{BB962C8B-B14F-4D97-AF65-F5344CB8AC3E}">
        <p14:creationId xmlns:p14="http://schemas.microsoft.com/office/powerpoint/2010/main" val="2659297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5C4DB3-9329-E096-8424-786FABD8172D}"/>
              </a:ext>
            </a:extLst>
          </p:cNvPr>
          <p:cNvSpPr>
            <a:spLocks noGrp="1"/>
          </p:cNvSpPr>
          <p:nvPr>
            <p:ph idx="1"/>
          </p:nvPr>
        </p:nvSpPr>
        <p:spPr>
          <a:xfrm>
            <a:off x="628650" y="504022"/>
            <a:ext cx="7886700" cy="4128701"/>
          </a:xfrm>
        </p:spPr>
        <p:txBody>
          <a:bodyPr>
            <a:normAutofit/>
          </a:bodyPr>
          <a:lstStyle/>
          <a:p>
            <a:pPr marL="0" indent="0">
              <a:buNone/>
            </a:pPr>
            <a:r>
              <a:rPr lang="en-US" sz="2400" b="1" u="sng" dirty="0"/>
              <a:t>Second Meeting (Tuesday, March 10</a:t>
            </a:r>
            <a:r>
              <a:rPr lang="en-US" sz="2400" b="1" u="sng" baseline="30000" dirty="0"/>
              <a:t>th</a:t>
            </a:r>
            <a:r>
              <a:rPr lang="en-US" sz="2400" b="1" u="sng" dirty="0"/>
              <a:t>)</a:t>
            </a:r>
          </a:p>
          <a:p>
            <a:pPr marL="0" indent="0">
              <a:buNone/>
            </a:pPr>
            <a:r>
              <a:rPr lang="en-US" sz="2400" dirty="0"/>
              <a:t>All exercises are online: </a:t>
            </a:r>
            <a:r>
              <a:rPr lang="en-US" sz="2400" b="1" dirty="0" err="1">
                <a:highlight>
                  <a:srgbClr val="00FFFF"/>
                </a:highlight>
              </a:rPr>
              <a:t>aboottogo.github.io</a:t>
            </a:r>
            <a:r>
              <a:rPr lang="en-US" sz="2400" b="1" dirty="0">
                <a:highlight>
                  <a:srgbClr val="00FFFF"/>
                </a:highlight>
              </a:rPr>
              <a:t>/ai-bootcamp</a:t>
            </a:r>
          </a:p>
          <a:p>
            <a:r>
              <a:rPr lang="en-US" sz="2400" b="1" dirty="0">
                <a:highlight>
                  <a:srgbClr val="FF00FF"/>
                </a:highlight>
              </a:rPr>
              <a:t>Part 1</a:t>
            </a:r>
            <a:r>
              <a:rPr lang="en-US" sz="2400" b="1" dirty="0"/>
              <a:t>:</a:t>
            </a:r>
            <a:r>
              <a:rPr lang="en-US" sz="2400" dirty="0"/>
              <a:t> I will demonstrate exercises on the </a:t>
            </a:r>
            <a:r>
              <a:rPr lang="en-US" sz="2400" b="1" dirty="0">
                <a:highlight>
                  <a:srgbClr val="FFFF00"/>
                </a:highlight>
              </a:rPr>
              <a:t>Dynamic Web Apps</a:t>
            </a:r>
            <a:r>
              <a:rPr lang="en-US" sz="2400" dirty="0"/>
              <a:t> page; try to follow along.</a:t>
            </a:r>
          </a:p>
          <a:p>
            <a:pPr lvl="1"/>
            <a:r>
              <a:rPr lang="en-US" sz="2100" dirty="0"/>
              <a:t>Will be </a:t>
            </a:r>
            <a:r>
              <a:rPr lang="en-US" sz="2100" i="1" dirty="0"/>
              <a:t>too slow </a:t>
            </a:r>
            <a:r>
              <a:rPr lang="en-US" sz="2100" dirty="0"/>
              <a:t>for some, </a:t>
            </a:r>
            <a:r>
              <a:rPr lang="en-US" sz="2100" i="1" dirty="0"/>
              <a:t>too fast </a:t>
            </a:r>
            <a:r>
              <a:rPr lang="en-US" sz="2100" dirty="0"/>
              <a:t>for others. </a:t>
            </a:r>
          </a:p>
          <a:p>
            <a:pPr lvl="1"/>
            <a:r>
              <a:rPr lang="en-US" sz="2100" u="sng" dirty="0">
                <a:sym typeface="Wingdings" pitchFamily="2" charset="2"/>
              </a:rPr>
              <a:t>Don’t stress if you fall behind</a:t>
            </a:r>
            <a:r>
              <a:rPr lang="en-US" sz="2100" dirty="0">
                <a:sym typeface="Wingdings" pitchFamily="2" charset="2"/>
              </a:rPr>
              <a:t>.</a:t>
            </a:r>
          </a:p>
          <a:p>
            <a:pPr lvl="1"/>
            <a:r>
              <a:rPr lang="en-US" sz="2100" dirty="0">
                <a:sym typeface="Wingdings" pitchFamily="2" charset="2"/>
              </a:rPr>
              <a:t>Ask your neighbor for help but keep conversations relevant. </a:t>
            </a:r>
            <a:endParaRPr lang="en-US" sz="2100" dirty="0"/>
          </a:p>
          <a:p>
            <a:r>
              <a:rPr lang="en-US" sz="2400" b="1" dirty="0">
                <a:highlight>
                  <a:srgbClr val="FF00FF"/>
                </a:highlight>
              </a:rPr>
              <a:t>Part 2</a:t>
            </a:r>
            <a:r>
              <a:rPr lang="en-US" sz="2400" b="1" dirty="0"/>
              <a:t>:</a:t>
            </a:r>
            <a:r>
              <a:rPr lang="en-US" sz="2400" dirty="0"/>
              <a:t> Work at your own pace through the exercises on the </a:t>
            </a:r>
            <a:r>
              <a:rPr lang="en-US" sz="2400" b="1" dirty="0">
                <a:highlight>
                  <a:srgbClr val="FFFF00"/>
                </a:highlight>
              </a:rPr>
              <a:t>Build Yor Own Web App</a:t>
            </a:r>
            <a:r>
              <a:rPr lang="en-US" sz="2400" dirty="0"/>
              <a:t> page; If you fell behind in Part 1, this will be the chance to get help. </a:t>
            </a:r>
          </a:p>
        </p:txBody>
      </p:sp>
    </p:spTree>
    <p:extLst>
      <p:ext uri="{BB962C8B-B14F-4D97-AF65-F5344CB8AC3E}">
        <p14:creationId xmlns:p14="http://schemas.microsoft.com/office/powerpoint/2010/main" val="2580946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7546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200" b="1" dirty="0">
                <a:solidFill>
                  <a:srgbClr val="1E293B"/>
                </a:solidFill>
                <a:latin typeface="Trebuchet MS" pitchFamily="34" charset="0"/>
                <a:ea typeface="Trebuchet MS" pitchFamily="34" charset="-122"/>
                <a:cs typeface="Trebuchet MS" pitchFamily="34" charset="-120"/>
              </a:rPr>
              <a:t>The Problem With Static</a:t>
            </a:r>
            <a:endParaRPr lang="en-US" sz="3200" dirty="0"/>
          </a:p>
        </p:txBody>
      </p:sp>
      <p:sp>
        <p:nvSpPr>
          <p:cNvPr id="3" name="Shape 1"/>
          <p:cNvSpPr/>
          <p:nvPr/>
        </p:nvSpPr>
        <p:spPr>
          <a:xfrm>
            <a:off x="548640" y="1097280"/>
            <a:ext cx="3840480" cy="3108960"/>
          </a:xfrm>
          <a:prstGeom prst="roundRect">
            <a:avLst>
              <a:gd name="adj" fmla="val 4412"/>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4" name="Shape 2"/>
          <p:cNvSpPr/>
          <p:nvPr/>
        </p:nvSpPr>
        <p:spPr>
          <a:xfrm>
            <a:off x="548640" y="1097280"/>
            <a:ext cx="3840480" cy="54864"/>
          </a:xfrm>
          <a:prstGeom prst="rect">
            <a:avLst/>
          </a:prstGeom>
          <a:solidFill>
            <a:srgbClr val="10B981"/>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22960" y="1417320"/>
            <a:ext cx="411480" cy="411480"/>
          </a:xfrm>
          <a:prstGeom prst="rect">
            <a:avLst/>
          </a:prstGeom>
        </p:spPr>
      </p:pic>
      <p:sp>
        <p:nvSpPr>
          <p:cNvPr id="6" name="Text 3"/>
          <p:cNvSpPr/>
          <p:nvPr/>
        </p:nvSpPr>
        <p:spPr>
          <a:xfrm>
            <a:off x="1371600" y="1417320"/>
            <a:ext cx="2743200" cy="41148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Step 1: You type in your data</a:t>
            </a:r>
            <a:endParaRPr lang="en-US" sz="1400" dirty="0"/>
          </a:p>
        </p:txBody>
      </p:sp>
      <p:sp>
        <p:nvSpPr>
          <p:cNvPr id="7" name="Shape 4"/>
          <p:cNvSpPr/>
          <p:nvPr/>
        </p:nvSpPr>
        <p:spPr>
          <a:xfrm>
            <a:off x="914400" y="2103120"/>
            <a:ext cx="3108960" cy="457200"/>
          </a:xfrm>
          <a:prstGeom prst="roundRect">
            <a:avLst>
              <a:gd name="adj" fmla="val 16000"/>
            </a:avLst>
          </a:prstGeom>
          <a:solidFill>
            <a:srgbClr val="ECFEFF"/>
          </a:solidFill>
          <a:ln w="19050">
            <a:solidFill>
              <a:srgbClr val="0891B2"/>
            </a:solidFill>
            <a:prstDash val="solid"/>
          </a:ln>
        </p:spPr>
        <p:txBody>
          <a:bodyPr/>
          <a:lstStyle/>
          <a:p>
            <a:endParaRPr lang="en-US"/>
          </a:p>
        </p:txBody>
      </p:sp>
      <p:sp>
        <p:nvSpPr>
          <p:cNvPr id="8" name="Text 5"/>
          <p:cNvSpPr/>
          <p:nvPr/>
        </p:nvSpPr>
        <p:spPr>
          <a:xfrm>
            <a:off x="1097280" y="2103120"/>
            <a:ext cx="2743200" cy="457200"/>
          </a:xfrm>
          <a:prstGeom prst="rect">
            <a:avLst/>
          </a:prstGeom>
          <a:noFill/>
          <a:ln/>
        </p:spPr>
        <p:txBody>
          <a:bodyPr wrap="square" lIns="0" tIns="0" rIns="0" bIns="0" rtlCol="0" anchor="ctr"/>
          <a:lstStyle/>
          <a:p>
            <a:pPr marL="0" indent="0">
              <a:buNone/>
            </a:pPr>
            <a:r>
              <a:rPr lang="en-US" sz="1400" dirty="0">
                <a:solidFill>
                  <a:srgbClr val="1E293B"/>
                </a:solidFill>
                <a:latin typeface="Consolas" pitchFamily="34" charset="0"/>
                <a:ea typeface="Consolas" pitchFamily="34" charset="-122"/>
                <a:cs typeface="Consolas" pitchFamily="34" charset="-120"/>
              </a:rPr>
              <a:t>Coffee — $4.50</a:t>
            </a:r>
            <a:endParaRPr lang="en-US" sz="1400" dirty="0"/>
          </a:p>
        </p:txBody>
      </p:sp>
      <p:pic>
        <p:nvPicPr>
          <p:cNvPr id="9" name="Image 1" descr="preencoded.png"/>
          <p:cNvPicPr>
            <a:picLocks noChangeAspect="1"/>
          </p:cNvPicPr>
          <p:nvPr/>
        </p:nvPicPr>
        <p:blipFill>
          <a:blip r:embed="rId4"/>
          <a:stretch>
            <a:fillRect/>
          </a:stretch>
        </p:blipFill>
        <p:spPr>
          <a:xfrm>
            <a:off x="1920240" y="2926080"/>
            <a:ext cx="502920" cy="502920"/>
          </a:xfrm>
          <a:prstGeom prst="rect">
            <a:avLst/>
          </a:prstGeom>
        </p:spPr>
      </p:pic>
      <p:sp>
        <p:nvSpPr>
          <p:cNvPr id="10" name="Text 6"/>
          <p:cNvSpPr/>
          <p:nvPr/>
        </p:nvSpPr>
        <p:spPr>
          <a:xfrm>
            <a:off x="914400" y="3474720"/>
            <a:ext cx="3108960" cy="365760"/>
          </a:xfrm>
          <a:prstGeom prst="rect">
            <a:avLst/>
          </a:prstGeom>
          <a:noFill/>
          <a:ln/>
        </p:spPr>
        <p:txBody>
          <a:bodyPr wrap="square" lIns="0" tIns="0" rIns="0" bIns="0" rtlCol="0" anchor="ctr"/>
          <a:lstStyle/>
          <a:p>
            <a:pPr marL="0" indent="0" algn="ctr">
              <a:buNone/>
            </a:pPr>
            <a:r>
              <a:rPr lang="en-US" sz="1600" b="1" dirty="0">
                <a:solidFill>
                  <a:srgbClr val="10B981"/>
                </a:solidFill>
                <a:latin typeface="Calibri" pitchFamily="34" charset="0"/>
                <a:ea typeface="Calibri" pitchFamily="34" charset="-122"/>
                <a:cs typeface="Calibri" pitchFamily="34" charset="-120"/>
              </a:rPr>
              <a:t>Saved!</a:t>
            </a:r>
            <a:endParaRPr lang="en-US" sz="1600" dirty="0"/>
          </a:p>
        </p:txBody>
      </p:sp>
      <p:sp>
        <p:nvSpPr>
          <p:cNvPr id="11" name="Shape 7"/>
          <p:cNvSpPr/>
          <p:nvPr/>
        </p:nvSpPr>
        <p:spPr>
          <a:xfrm>
            <a:off x="4937760" y="1097280"/>
            <a:ext cx="3840480" cy="3108960"/>
          </a:xfrm>
          <a:prstGeom prst="roundRect">
            <a:avLst>
              <a:gd name="adj" fmla="val 4412"/>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2" name="Shape 8"/>
          <p:cNvSpPr/>
          <p:nvPr/>
        </p:nvSpPr>
        <p:spPr>
          <a:xfrm>
            <a:off x="4937760" y="1097280"/>
            <a:ext cx="3840480" cy="54864"/>
          </a:xfrm>
          <a:prstGeom prst="rect">
            <a:avLst/>
          </a:prstGeom>
          <a:solidFill>
            <a:srgbClr val="EF4444"/>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5212080" y="1417320"/>
            <a:ext cx="411480" cy="411480"/>
          </a:xfrm>
          <a:prstGeom prst="rect">
            <a:avLst/>
          </a:prstGeom>
        </p:spPr>
      </p:pic>
      <p:sp>
        <p:nvSpPr>
          <p:cNvPr id="14" name="Text 9"/>
          <p:cNvSpPr/>
          <p:nvPr/>
        </p:nvSpPr>
        <p:spPr>
          <a:xfrm>
            <a:off x="5760720" y="1417320"/>
            <a:ext cx="2743200" cy="41148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Step 2: You refresh the page</a:t>
            </a:r>
            <a:endParaRPr lang="en-US" sz="1400" dirty="0"/>
          </a:p>
        </p:txBody>
      </p:sp>
      <p:sp>
        <p:nvSpPr>
          <p:cNvPr id="15" name="Shape 10"/>
          <p:cNvSpPr/>
          <p:nvPr/>
        </p:nvSpPr>
        <p:spPr>
          <a:xfrm>
            <a:off x="5303520" y="2103120"/>
            <a:ext cx="3108960" cy="457200"/>
          </a:xfrm>
          <a:prstGeom prst="roundRect">
            <a:avLst>
              <a:gd name="adj" fmla="val 16000"/>
            </a:avLst>
          </a:prstGeom>
          <a:solidFill>
            <a:srgbClr val="FEF2F2"/>
          </a:solidFill>
          <a:ln w="19050">
            <a:solidFill>
              <a:srgbClr val="EF4444"/>
            </a:solidFill>
            <a:prstDash val="solid"/>
          </a:ln>
        </p:spPr>
        <p:txBody>
          <a:bodyPr/>
          <a:lstStyle/>
          <a:p>
            <a:endParaRPr lang="en-US"/>
          </a:p>
        </p:txBody>
      </p:sp>
      <p:sp>
        <p:nvSpPr>
          <p:cNvPr id="16" name="Text 11"/>
          <p:cNvSpPr/>
          <p:nvPr/>
        </p:nvSpPr>
        <p:spPr>
          <a:xfrm>
            <a:off x="5486400" y="2103120"/>
            <a:ext cx="2743200" cy="457200"/>
          </a:xfrm>
          <a:prstGeom prst="rect">
            <a:avLst/>
          </a:prstGeom>
          <a:noFill/>
          <a:ln/>
        </p:spPr>
        <p:txBody>
          <a:bodyPr wrap="square" lIns="0" tIns="0" rIns="0" bIns="0" rtlCol="0" anchor="ctr"/>
          <a:lstStyle/>
          <a:p>
            <a:pPr marL="0" indent="0">
              <a:buNone/>
            </a:pPr>
            <a:r>
              <a:rPr lang="en-US" sz="1400" i="1" dirty="0">
                <a:solidFill>
                  <a:srgbClr val="64748B"/>
                </a:solidFill>
                <a:latin typeface="Consolas" pitchFamily="34" charset="0"/>
                <a:ea typeface="Consolas" pitchFamily="34" charset="-122"/>
                <a:cs typeface="Consolas" pitchFamily="34" charset="-120"/>
              </a:rPr>
              <a:t>(empty)</a:t>
            </a:r>
            <a:endParaRPr lang="en-US" sz="1400" dirty="0"/>
          </a:p>
        </p:txBody>
      </p:sp>
      <p:pic>
        <p:nvPicPr>
          <p:cNvPr id="17" name="Image 3" descr="preencoded.png"/>
          <p:cNvPicPr>
            <a:picLocks noChangeAspect="1"/>
          </p:cNvPicPr>
          <p:nvPr/>
        </p:nvPicPr>
        <p:blipFill>
          <a:blip r:embed="rId6"/>
          <a:stretch>
            <a:fillRect/>
          </a:stretch>
        </p:blipFill>
        <p:spPr>
          <a:xfrm>
            <a:off x="6309360" y="2926080"/>
            <a:ext cx="502920" cy="502920"/>
          </a:xfrm>
          <a:prstGeom prst="rect">
            <a:avLst/>
          </a:prstGeom>
        </p:spPr>
      </p:pic>
      <p:sp>
        <p:nvSpPr>
          <p:cNvPr id="18" name="Text 12"/>
          <p:cNvSpPr/>
          <p:nvPr/>
        </p:nvSpPr>
        <p:spPr>
          <a:xfrm>
            <a:off x="5303520" y="3474720"/>
            <a:ext cx="3108960" cy="365760"/>
          </a:xfrm>
          <a:prstGeom prst="rect">
            <a:avLst/>
          </a:prstGeom>
          <a:noFill/>
          <a:ln/>
        </p:spPr>
        <p:txBody>
          <a:bodyPr wrap="square" lIns="0" tIns="0" rIns="0" bIns="0" rtlCol="0" anchor="ctr"/>
          <a:lstStyle/>
          <a:p>
            <a:pPr marL="0" indent="0" algn="ctr">
              <a:buNone/>
            </a:pPr>
            <a:r>
              <a:rPr lang="en-US" sz="1600" b="1" dirty="0">
                <a:solidFill>
                  <a:srgbClr val="EF4444"/>
                </a:solidFill>
                <a:latin typeface="Calibri" pitchFamily="34" charset="0"/>
                <a:ea typeface="Calibri" pitchFamily="34" charset="-122"/>
                <a:cs typeface="Calibri" pitchFamily="34" charset="-120"/>
              </a:rPr>
              <a:t>Gone.</a:t>
            </a:r>
            <a:endParaRPr lang="en-US" sz="1600" dirty="0"/>
          </a:p>
        </p:txBody>
      </p:sp>
      <p:pic>
        <p:nvPicPr>
          <p:cNvPr id="19" name="Image 4" descr="preencoded.png"/>
          <p:cNvPicPr>
            <a:picLocks noChangeAspect="1"/>
          </p:cNvPicPr>
          <p:nvPr/>
        </p:nvPicPr>
        <p:blipFill>
          <a:blip r:embed="rId7"/>
          <a:stretch>
            <a:fillRect/>
          </a:stretch>
        </p:blipFill>
        <p:spPr>
          <a:xfrm>
            <a:off x="4480560" y="2377440"/>
            <a:ext cx="365760" cy="365760"/>
          </a:xfrm>
          <a:prstGeom prst="rect">
            <a:avLst/>
          </a:prstGeom>
        </p:spPr>
      </p:pic>
      <p:sp>
        <p:nvSpPr>
          <p:cNvPr id="20" name="Shape 13"/>
          <p:cNvSpPr/>
          <p:nvPr/>
        </p:nvSpPr>
        <p:spPr>
          <a:xfrm>
            <a:off x="1371600" y="4434840"/>
            <a:ext cx="6400800" cy="502920"/>
          </a:xfrm>
          <a:prstGeom prst="roundRect">
            <a:avLst>
              <a:gd name="adj" fmla="val 18182"/>
            </a:avLst>
          </a:prstGeom>
          <a:solidFill>
            <a:srgbClr val="0F172A"/>
          </a:solidFill>
          <a:ln/>
        </p:spPr>
        <p:txBody>
          <a:bodyPr/>
          <a:lstStyle/>
          <a:p>
            <a:endParaRPr lang="en-US"/>
          </a:p>
        </p:txBody>
      </p:sp>
      <p:sp>
        <p:nvSpPr>
          <p:cNvPr id="21" name="Text 14"/>
          <p:cNvSpPr/>
          <p:nvPr/>
        </p:nvSpPr>
        <p:spPr>
          <a:xfrm>
            <a:off x="1371600" y="4434840"/>
            <a:ext cx="6400800" cy="50292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Static sites have no memory. Close the tab, lose the data.</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200" b="1" dirty="0">
                <a:solidFill>
                  <a:srgbClr val="1E293B"/>
                </a:solidFill>
                <a:latin typeface="Trebuchet MS" pitchFamily="34" charset="0"/>
                <a:ea typeface="Trebuchet MS" pitchFamily="34" charset="-122"/>
                <a:cs typeface="Trebuchet MS" pitchFamily="34" charset="-120"/>
              </a:rPr>
              <a:t>What Makes an App Dynamic?</a:t>
            </a:r>
            <a:endParaRPr lang="en-US" sz="3200" dirty="0"/>
          </a:p>
        </p:txBody>
      </p:sp>
      <p:sp>
        <p:nvSpPr>
          <p:cNvPr id="3" name="Shape 1"/>
          <p:cNvSpPr/>
          <p:nvPr/>
        </p:nvSpPr>
        <p:spPr>
          <a:xfrm>
            <a:off x="685800" y="1280160"/>
            <a:ext cx="2286000" cy="2560320"/>
          </a:xfrm>
          <a:prstGeom prst="roundRect">
            <a:avLst>
              <a:gd name="adj" fmla="val 6000"/>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4" name="Shape 2"/>
          <p:cNvSpPr/>
          <p:nvPr/>
        </p:nvSpPr>
        <p:spPr>
          <a:xfrm>
            <a:off x="1417320" y="1645920"/>
            <a:ext cx="822960" cy="822960"/>
          </a:xfrm>
          <a:prstGeom prst="ellipse">
            <a:avLst/>
          </a:prstGeom>
          <a:solidFill>
            <a:srgbClr val="0891B2"/>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623060" y="1851660"/>
            <a:ext cx="411480" cy="411480"/>
          </a:xfrm>
          <a:prstGeom prst="rect">
            <a:avLst/>
          </a:prstGeom>
        </p:spPr>
      </p:pic>
      <p:sp>
        <p:nvSpPr>
          <p:cNvPr id="6" name="Text 3"/>
          <p:cNvSpPr/>
          <p:nvPr/>
        </p:nvSpPr>
        <p:spPr>
          <a:xfrm>
            <a:off x="685800" y="2651760"/>
            <a:ext cx="2286000" cy="365760"/>
          </a:xfrm>
          <a:prstGeom prst="rect">
            <a:avLst/>
          </a:prstGeom>
          <a:noFill/>
          <a:ln/>
        </p:spPr>
        <p:txBody>
          <a:bodyPr wrap="square" lIns="0" tIns="0" rIns="0" bIns="0" rtlCol="0" anchor="ctr"/>
          <a:lstStyle/>
          <a:p>
            <a:pPr marL="0" indent="0" algn="ctr">
              <a:buNone/>
            </a:pPr>
            <a:r>
              <a:rPr lang="en-US" sz="1600" b="1" dirty="0">
                <a:solidFill>
                  <a:srgbClr val="1E293B"/>
                </a:solidFill>
                <a:latin typeface="Trebuchet MS" pitchFamily="34" charset="0"/>
                <a:ea typeface="Trebuchet MS" pitchFamily="34" charset="-122"/>
                <a:cs typeface="Trebuchet MS" pitchFamily="34" charset="-120"/>
              </a:rPr>
              <a:t>FRONTEND</a:t>
            </a:r>
            <a:endParaRPr lang="en-US" sz="1600" dirty="0"/>
          </a:p>
        </p:txBody>
      </p:sp>
      <p:sp>
        <p:nvSpPr>
          <p:cNvPr id="7" name="Text 4"/>
          <p:cNvSpPr/>
          <p:nvPr/>
        </p:nvSpPr>
        <p:spPr>
          <a:xfrm>
            <a:off x="868680" y="3017520"/>
            <a:ext cx="1920240" cy="640080"/>
          </a:xfrm>
          <a:prstGeom prst="rect">
            <a:avLst/>
          </a:prstGeom>
          <a:noFill/>
          <a:ln/>
        </p:spPr>
        <p:txBody>
          <a:bodyPr wrap="square" lIns="0" tIns="0" rIns="0" bIns="0" rtlCol="0" anchor="t"/>
          <a:lstStyle/>
          <a:p>
            <a:pPr marL="0" indent="0" algn="ctr">
              <a:buNone/>
            </a:pPr>
            <a:r>
              <a:rPr lang="en-US" sz="1200" dirty="0">
                <a:solidFill>
                  <a:srgbClr val="64748B"/>
                </a:solidFill>
                <a:latin typeface="Calibri" pitchFamily="34" charset="0"/>
                <a:ea typeface="Calibri" pitchFamily="34" charset="-122"/>
                <a:cs typeface="Calibri" pitchFamily="34" charset="-120"/>
              </a:rPr>
              <a:t>What users see</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and interact with</a:t>
            </a:r>
            <a:endParaRPr lang="en-US" sz="1200" dirty="0"/>
          </a:p>
        </p:txBody>
      </p:sp>
      <p:sp>
        <p:nvSpPr>
          <p:cNvPr id="8" name="Shape 5"/>
          <p:cNvSpPr/>
          <p:nvPr/>
        </p:nvSpPr>
        <p:spPr>
          <a:xfrm>
            <a:off x="3429000" y="1280160"/>
            <a:ext cx="2286000" cy="2560320"/>
          </a:xfrm>
          <a:prstGeom prst="roundRect">
            <a:avLst>
              <a:gd name="adj" fmla="val 6000"/>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9" name="Shape 6"/>
          <p:cNvSpPr/>
          <p:nvPr/>
        </p:nvSpPr>
        <p:spPr>
          <a:xfrm>
            <a:off x="4160520" y="1645920"/>
            <a:ext cx="822960" cy="822960"/>
          </a:xfrm>
          <a:prstGeom prst="ellipse">
            <a:avLst/>
          </a:prstGeom>
          <a:solidFill>
            <a:srgbClr val="06B6D4"/>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4366260" y="1851660"/>
            <a:ext cx="411480" cy="411480"/>
          </a:xfrm>
          <a:prstGeom prst="rect">
            <a:avLst/>
          </a:prstGeom>
        </p:spPr>
      </p:pic>
      <p:sp>
        <p:nvSpPr>
          <p:cNvPr id="11" name="Text 7"/>
          <p:cNvSpPr/>
          <p:nvPr/>
        </p:nvSpPr>
        <p:spPr>
          <a:xfrm>
            <a:off x="3429000" y="2651760"/>
            <a:ext cx="2286000" cy="365760"/>
          </a:xfrm>
          <a:prstGeom prst="rect">
            <a:avLst/>
          </a:prstGeom>
          <a:noFill/>
          <a:ln/>
        </p:spPr>
        <p:txBody>
          <a:bodyPr wrap="square" lIns="0" tIns="0" rIns="0" bIns="0" rtlCol="0" anchor="ctr"/>
          <a:lstStyle/>
          <a:p>
            <a:pPr marL="0" indent="0" algn="ctr">
              <a:buNone/>
            </a:pPr>
            <a:r>
              <a:rPr lang="en-US" sz="1600" b="1" dirty="0">
                <a:solidFill>
                  <a:srgbClr val="1E293B"/>
                </a:solidFill>
                <a:latin typeface="Trebuchet MS" pitchFamily="34" charset="0"/>
                <a:ea typeface="Trebuchet MS" pitchFamily="34" charset="-122"/>
                <a:cs typeface="Trebuchet MS" pitchFamily="34" charset="-120"/>
              </a:rPr>
              <a:t>HOSTING</a:t>
            </a:r>
            <a:endParaRPr lang="en-US" sz="1600" dirty="0"/>
          </a:p>
        </p:txBody>
      </p:sp>
      <p:sp>
        <p:nvSpPr>
          <p:cNvPr id="12" name="Text 8"/>
          <p:cNvSpPr/>
          <p:nvPr/>
        </p:nvSpPr>
        <p:spPr>
          <a:xfrm>
            <a:off x="3611880" y="3017520"/>
            <a:ext cx="1920240" cy="640080"/>
          </a:xfrm>
          <a:prstGeom prst="rect">
            <a:avLst/>
          </a:prstGeom>
          <a:noFill/>
          <a:ln/>
        </p:spPr>
        <p:txBody>
          <a:bodyPr wrap="square" lIns="0" tIns="0" rIns="0" bIns="0" rtlCol="0" anchor="t"/>
          <a:lstStyle/>
          <a:p>
            <a:pPr marL="0" indent="0" algn="ctr">
              <a:buNone/>
            </a:pPr>
            <a:r>
              <a:rPr lang="en-US" sz="1200" dirty="0">
                <a:solidFill>
                  <a:srgbClr val="64748B"/>
                </a:solidFill>
                <a:latin typeface="Calibri" pitchFamily="34" charset="0"/>
                <a:ea typeface="Calibri" pitchFamily="34" charset="-122"/>
                <a:cs typeface="Calibri" pitchFamily="34" charset="-120"/>
              </a:rPr>
              <a:t>Puts your app</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on the internet</a:t>
            </a:r>
            <a:endParaRPr lang="en-US" sz="1200" dirty="0"/>
          </a:p>
        </p:txBody>
      </p:sp>
      <p:sp>
        <p:nvSpPr>
          <p:cNvPr id="13" name="Shape 9"/>
          <p:cNvSpPr/>
          <p:nvPr/>
        </p:nvSpPr>
        <p:spPr>
          <a:xfrm>
            <a:off x="6172200" y="1280160"/>
            <a:ext cx="2286000" cy="2560320"/>
          </a:xfrm>
          <a:prstGeom prst="roundRect">
            <a:avLst>
              <a:gd name="adj" fmla="val 6000"/>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4" name="Shape 10"/>
          <p:cNvSpPr/>
          <p:nvPr/>
        </p:nvSpPr>
        <p:spPr>
          <a:xfrm>
            <a:off x="6903720" y="1645920"/>
            <a:ext cx="822960" cy="822960"/>
          </a:xfrm>
          <a:prstGeom prst="ellipse">
            <a:avLst/>
          </a:prstGeom>
          <a:solidFill>
            <a:srgbClr val="0E7490"/>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7109460" y="1851660"/>
            <a:ext cx="411480" cy="411480"/>
          </a:xfrm>
          <a:prstGeom prst="rect">
            <a:avLst/>
          </a:prstGeom>
        </p:spPr>
      </p:pic>
      <p:sp>
        <p:nvSpPr>
          <p:cNvPr id="16" name="Text 11"/>
          <p:cNvSpPr/>
          <p:nvPr/>
        </p:nvSpPr>
        <p:spPr>
          <a:xfrm>
            <a:off x="6172200" y="2651760"/>
            <a:ext cx="2286000" cy="365760"/>
          </a:xfrm>
          <a:prstGeom prst="rect">
            <a:avLst/>
          </a:prstGeom>
          <a:noFill/>
          <a:ln/>
        </p:spPr>
        <p:txBody>
          <a:bodyPr wrap="square" lIns="0" tIns="0" rIns="0" bIns="0" rtlCol="0" anchor="ctr"/>
          <a:lstStyle/>
          <a:p>
            <a:pPr marL="0" indent="0" algn="ctr">
              <a:buNone/>
            </a:pPr>
            <a:r>
              <a:rPr lang="en-US" sz="1600" b="1" dirty="0">
                <a:solidFill>
                  <a:srgbClr val="1E293B"/>
                </a:solidFill>
                <a:latin typeface="Trebuchet MS" pitchFamily="34" charset="0"/>
                <a:ea typeface="Trebuchet MS" pitchFamily="34" charset="-122"/>
                <a:cs typeface="Trebuchet MS" pitchFamily="34" charset="-120"/>
              </a:rPr>
              <a:t>DATABASE</a:t>
            </a:r>
            <a:endParaRPr lang="en-US" sz="1600" dirty="0"/>
          </a:p>
        </p:txBody>
      </p:sp>
      <p:sp>
        <p:nvSpPr>
          <p:cNvPr id="17" name="Text 12"/>
          <p:cNvSpPr/>
          <p:nvPr/>
        </p:nvSpPr>
        <p:spPr>
          <a:xfrm>
            <a:off x="6355080" y="3017520"/>
            <a:ext cx="1920240" cy="640080"/>
          </a:xfrm>
          <a:prstGeom prst="rect">
            <a:avLst/>
          </a:prstGeom>
          <a:noFill/>
          <a:ln/>
        </p:spPr>
        <p:txBody>
          <a:bodyPr wrap="square" lIns="0" tIns="0" rIns="0" bIns="0" rtlCol="0" anchor="t"/>
          <a:lstStyle/>
          <a:p>
            <a:pPr marL="0" indent="0" algn="ctr">
              <a:buNone/>
            </a:pPr>
            <a:r>
              <a:rPr lang="en-US" sz="1200" dirty="0">
                <a:solidFill>
                  <a:srgbClr val="64748B"/>
                </a:solidFill>
                <a:latin typeface="Calibri" pitchFamily="34" charset="0"/>
                <a:ea typeface="Calibri" pitchFamily="34" charset="-122"/>
                <a:cs typeface="Calibri" pitchFamily="34" charset="-120"/>
              </a:rPr>
              <a:t>What remembers</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your data</a:t>
            </a:r>
            <a:endParaRPr lang="en-US" sz="1200" dirty="0"/>
          </a:p>
        </p:txBody>
      </p:sp>
      <p:sp>
        <p:nvSpPr>
          <p:cNvPr id="20" name="Shape 13"/>
          <p:cNvSpPr/>
          <p:nvPr/>
        </p:nvSpPr>
        <p:spPr>
          <a:xfrm>
            <a:off x="1371600" y="4251960"/>
            <a:ext cx="6400800" cy="640080"/>
          </a:xfrm>
          <a:prstGeom prst="roundRect">
            <a:avLst>
              <a:gd name="adj" fmla="val 14286"/>
            </a:avLst>
          </a:prstGeom>
          <a:solidFill>
            <a:srgbClr val="ECFEFF"/>
          </a:solidFill>
          <a:ln w="12700">
            <a:solidFill>
              <a:srgbClr val="0891B2"/>
            </a:solidFill>
            <a:prstDash val="solid"/>
          </a:ln>
        </p:spPr>
        <p:txBody>
          <a:bodyPr/>
          <a:lstStyle/>
          <a:p>
            <a:endParaRPr lang="en-US"/>
          </a:p>
        </p:txBody>
      </p:sp>
      <p:pic>
        <p:nvPicPr>
          <p:cNvPr id="21" name="Image 5" descr="preencoded.png"/>
          <p:cNvPicPr>
            <a:picLocks noChangeAspect="1"/>
          </p:cNvPicPr>
          <p:nvPr/>
        </p:nvPicPr>
        <p:blipFill>
          <a:blip r:embed="rId6"/>
          <a:stretch>
            <a:fillRect/>
          </a:stretch>
        </p:blipFill>
        <p:spPr>
          <a:xfrm>
            <a:off x="1645920" y="4370832"/>
            <a:ext cx="365760" cy="365760"/>
          </a:xfrm>
          <a:prstGeom prst="rect">
            <a:avLst/>
          </a:prstGeom>
        </p:spPr>
      </p:pic>
      <p:sp>
        <p:nvSpPr>
          <p:cNvPr id="22" name="Text 14"/>
          <p:cNvSpPr/>
          <p:nvPr/>
        </p:nvSpPr>
        <p:spPr>
          <a:xfrm>
            <a:off x="2103120" y="4251960"/>
            <a:ext cx="5394960" cy="64008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A dynamic app is a conversation — the frontend asks, the database answers and stores.</a:t>
            </a:r>
            <a:endParaRPr lang="en-US" sz="1300" dirty="0"/>
          </a:p>
        </p:txBody>
      </p:sp>
      <p:pic>
        <p:nvPicPr>
          <p:cNvPr id="23" name="Image 5" descr="preencoded.png">
            <a:extLst>
              <a:ext uri="{FF2B5EF4-FFF2-40B4-BE49-F238E27FC236}">
                <a16:creationId xmlns:a16="http://schemas.microsoft.com/office/drawing/2014/main" id="{B8D7BB48-C0E2-F6B1-6F81-80CEE978683B}"/>
              </a:ext>
            </a:extLst>
          </p:cNvPr>
          <p:cNvPicPr>
            <a:picLocks noChangeAspect="1"/>
          </p:cNvPicPr>
          <p:nvPr/>
        </p:nvPicPr>
        <p:blipFill>
          <a:blip r:embed="rId6"/>
          <a:stretch>
            <a:fillRect/>
          </a:stretch>
        </p:blipFill>
        <p:spPr>
          <a:xfrm>
            <a:off x="3027089" y="2560320"/>
            <a:ext cx="365760" cy="365760"/>
          </a:xfrm>
          <a:prstGeom prst="rect">
            <a:avLst/>
          </a:prstGeom>
        </p:spPr>
      </p:pic>
      <p:pic>
        <p:nvPicPr>
          <p:cNvPr id="24" name="Image 5" descr="preencoded.png">
            <a:extLst>
              <a:ext uri="{FF2B5EF4-FFF2-40B4-BE49-F238E27FC236}">
                <a16:creationId xmlns:a16="http://schemas.microsoft.com/office/drawing/2014/main" id="{D260BF35-EF50-DB48-0088-9E4575DBBC7C}"/>
              </a:ext>
            </a:extLst>
          </p:cNvPr>
          <p:cNvPicPr>
            <a:picLocks noChangeAspect="1"/>
          </p:cNvPicPr>
          <p:nvPr/>
        </p:nvPicPr>
        <p:blipFill>
          <a:blip r:embed="rId6"/>
          <a:stretch>
            <a:fillRect/>
          </a:stretch>
        </p:blipFill>
        <p:spPr>
          <a:xfrm>
            <a:off x="5742645" y="2560320"/>
            <a:ext cx="365760" cy="365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200" b="1" dirty="0">
                <a:solidFill>
                  <a:srgbClr val="1E293B"/>
                </a:solidFill>
                <a:latin typeface="Trebuchet MS" pitchFamily="34" charset="0"/>
                <a:ea typeface="Trebuchet MS" pitchFamily="34" charset="-122"/>
                <a:cs typeface="Trebuchet MS" pitchFamily="34" charset="-120"/>
              </a:rPr>
              <a:t>Meet the New Tools</a:t>
            </a:r>
            <a:endParaRPr lang="en-US" sz="3200" dirty="0"/>
          </a:p>
        </p:txBody>
      </p:sp>
      <p:sp>
        <p:nvSpPr>
          <p:cNvPr id="3" name="Shape 1"/>
          <p:cNvSpPr/>
          <p:nvPr/>
        </p:nvSpPr>
        <p:spPr>
          <a:xfrm>
            <a:off x="685800" y="1188720"/>
            <a:ext cx="2286000" cy="2926080"/>
          </a:xfrm>
          <a:prstGeom prst="roundRect">
            <a:avLst>
              <a:gd name="adj" fmla="val 6000"/>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4" name="Shape 2"/>
          <p:cNvSpPr/>
          <p:nvPr/>
        </p:nvSpPr>
        <p:spPr>
          <a:xfrm>
            <a:off x="1143000" y="1371600"/>
            <a:ext cx="1371600" cy="320040"/>
          </a:xfrm>
          <a:prstGeom prst="roundRect">
            <a:avLst>
              <a:gd name="adj" fmla="val 22857"/>
            </a:avLst>
          </a:prstGeom>
          <a:solidFill>
            <a:srgbClr val="0891B2"/>
          </a:solidFill>
          <a:ln/>
        </p:spPr>
        <p:txBody>
          <a:bodyPr/>
          <a:lstStyle/>
          <a:p>
            <a:endParaRPr lang="en-US"/>
          </a:p>
        </p:txBody>
      </p:sp>
      <p:sp>
        <p:nvSpPr>
          <p:cNvPr id="5" name="Text 3"/>
          <p:cNvSpPr/>
          <p:nvPr/>
        </p:nvSpPr>
        <p:spPr>
          <a:xfrm>
            <a:off x="1143000" y="1371600"/>
            <a:ext cx="137160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FRONTEND</a:t>
            </a:r>
            <a:endParaRPr lang="en-US" sz="1000" dirty="0"/>
          </a:p>
        </p:txBody>
      </p:sp>
      <p:sp>
        <p:nvSpPr>
          <p:cNvPr id="6" name="Shape 4"/>
          <p:cNvSpPr/>
          <p:nvPr/>
        </p:nvSpPr>
        <p:spPr>
          <a:xfrm>
            <a:off x="1417320" y="1874520"/>
            <a:ext cx="822960" cy="822960"/>
          </a:xfrm>
          <a:prstGeom prst="ellipse">
            <a:avLst/>
          </a:prstGeom>
          <a:solidFill>
            <a:srgbClr val="0F172A"/>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623060" y="2080260"/>
            <a:ext cx="411480" cy="411480"/>
          </a:xfrm>
          <a:prstGeom prst="rect">
            <a:avLst/>
          </a:prstGeom>
        </p:spPr>
      </p:pic>
      <p:sp>
        <p:nvSpPr>
          <p:cNvPr id="8" name="Text 5"/>
          <p:cNvSpPr/>
          <p:nvPr/>
        </p:nvSpPr>
        <p:spPr>
          <a:xfrm>
            <a:off x="685800" y="2880360"/>
            <a:ext cx="2286000" cy="411480"/>
          </a:xfrm>
          <a:prstGeom prst="rect">
            <a:avLst/>
          </a:prstGeom>
          <a:noFill/>
          <a:ln/>
        </p:spPr>
        <p:txBody>
          <a:bodyPr wrap="square" lIns="0" tIns="0" rIns="0" bIns="0" rtlCol="0" anchor="ctr"/>
          <a:lstStyle/>
          <a:p>
            <a:pPr marL="0" indent="0" algn="ctr">
              <a:buNone/>
            </a:pPr>
            <a:r>
              <a:rPr lang="en-US" sz="2000" b="1" dirty="0">
                <a:solidFill>
                  <a:srgbClr val="1E293B"/>
                </a:solidFill>
                <a:latin typeface="Trebuchet MS" pitchFamily="34" charset="0"/>
                <a:ea typeface="Trebuchet MS" pitchFamily="34" charset="-122"/>
                <a:cs typeface="Trebuchet MS" pitchFamily="34" charset="-120"/>
              </a:rPr>
              <a:t>React</a:t>
            </a:r>
            <a:endParaRPr lang="en-US" sz="2000" dirty="0"/>
          </a:p>
        </p:txBody>
      </p:sp>
      <p:sp>
        <p:nvSpPr>
          <p:cNvPr id="9" name="Text 6"/>
          <p:cNvSpPr/>
          <p:nvPr/>
        </p:nvSpPr>
        <p:spPr>
          <a:xfrm>
            <a:off x="868680" y="3291840"/>
            <a:ext cx="1920240" cy="640080"/>
          </a:xfrm>
          <a:prstGeom prst="rect">
            <a:avLst/>
          </a:prstGeom>
          <a:noFill/>
          <a:ln/>
        </p:spPr>
        <p:txBody>
          <a:bodyPr wrap="square" lIns="0" tIns="0" rIns="0" bIns="0" rtlCol="0" anchor="t"/>
          <a:lstStyle/>
          <a:p>
            <a:pPr marL="0" indent="0" algn="ctr">
              <a:buNone/>
            </a:pPr>
            <a:r>
              <a:rPr lang="en-US" sz="1200" dirty="0">
                <a:solidFill>
                  <a:srgbClr val="64748B"/>
                </a:solidFill>
                <a:latin typeface="Calibri" pitchFamily="34" charset="0"/>
                <a:ea typeface="Calibri" pitchFamily="34" charset="-122"/>
                <a:cs typeface="Calibri" pitchFamily="34" charset="-120"/>
              </a:rPr>
              <a:t>Builds the interface</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from reusable pieces</a:t>
            </a:r>
            <a:endParaRPr lang="en-US" sz="1200" dirty="0"/>
          </a:p>
        </p:txBody>
      </p:sp>
      <p:sp>
        <p:nvSpPr>
          <p:cNvPr id="10" name="Shape 7"/>
          <p:cNvSpPr/>
          <p:nvPr/>
        </p:nvSpPr>
        <p:spPr>
          <a:xfrm>
            <a:off x="3429000" y="1188720"/>
            <a:ext cx="2286000" cy="2926080"/>
          </a:xfrm>
          <a:prstGeom prst="roundRect">
            <a:avLst>
              <a:gd name="adj" fmla="val 6000"/>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1" name="Shape 8"/>
          <p:cNvSpPr/>
          <p:nvPr/>
        </p:nvSpPr>
        <p:spPr>
          <a:xfrm>
            <a:off x="3886200" y="1371600"/>
            <a:ext cx="1371600" cy="320040"/>
          </a:xfrm>
          <a:prstGeom prst="roundRect">
            <a:avLst>
              <a:gd name="adj" fmla="val 22857"/>
            </a:avLst>
          </a:prstGeom>
          <a:solidFill>
            <a:srgbClr val="06B6D4"/>
          </a:solidFill>
          <a:ln/>
        </p:spPr>
        <p:txBody>
          <a:bodyPr/>
          <a:lstStyle/>
          <a:p>
            <a:endParaRPr lang="en-US"/>
          </a:p>
        </p:txBody>
      </p:sp>
      <p:sp>
        <p:nvSpPr>
          <p:cNvPr id="12" name="Text 9"/>
          <p:cNvSpPr/>
          <p:nvPr/>
        </p:nvSpPr>
        <p:spPr>
          <a:xfrm>
            <a:off x="3886200" y="1371600"/>
            <a:ext cx="137160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HOSTING</a:t>
            </a:r>
            <a:endParaRPr lang="en-US" sz="1000" dirty="0"/>
          </a:p>
        </p:txBody>
      </p:sp>
      <p:sp>
        <p:nvSpPr>
          <p:cNvPr id="13" name="Shape 10"/>
          <p:cNvSpPr/>
          <p:nvPr/>
        </p:nvSpPr>
        <p:spPr>
          <a:xfrm>
            <a:off x="4160520" y="1874520"/>
            <a:ext cx="822960" cy="822960"/>
          </a:xfrm>
          <a:prstGeom prst="ellipse">
            <a:avLst/>
          </a:prstGeom>
          <a:solidFill>
            <a:srgbClr val="0F172A"/>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366260" y="2080260"/>
            <a:ext cx="411480" cy="411480"/>
          </a:xfrm>
          <a:prstGeom prst="rect">
            <a:avLst/>
          </a:prstGeom>
        </p:spPr>
      </p:pic>
      <p:sp>
        <p:nvSpPr>
          <p:cNvPr id="15" name="Text 11"/>
          <p:cNvSpPr/>
          <p:nvPr/>
        </p:nvSpPr>
        <p:spPr>
          <a:xfrm>
            <a:off x="3429000" y="2880360"/>
            <a:ext cx="2286000" cy="411480"/>
          </a:xfrm>
          <a:prstGeom prst="rect">
            <a:avLst/>
          </a:prstGeom>
          <a:noFill/>
          <a:ln/>
        </p:spPr>
        <p:txBody>
          <a:bodyPr wrap="square" lIns="0" tIns="0" rIns="0" bIns="0" rtlCol="0" anchor="ctr"/>
          <a:lstStyle/>
          <a:p>
            <a:pPr marL="0" indent="0" algn="ctr">
              <a:buNone/>
            </a:pPr>
            <a:r>
              <a:rPr lang="en-US" sz="2000" b="1" dirty="0">
                <a:solidFill>
                  <a:srgbClr val="1E293B"/>
                </a:solidFill>
                <a:latin typeface="Trebuchet MS" pitchFamily="34" charset="0"/>
                <a:ea typeface="Trebuchet MS" pitchFamily="34" charset="-122"/>
                <a:cs typeface="Trebuchet MS" pitchFamily="34" charset="-120"/>
              </a:rPr>
              <a:t>Vercel</a:t>
            </a:r>
            <a:endParaRPr lang="en-US" sz="2000" dirty="0"/>
          </a:p>
        </p:txBody>
      </p:sp>
      <p:sp>
        <p:nvSpPr>
          <p:cNvPr id="16" name="Text 12"/>
          <p:cNvSpPr/>
          <p:nvPr/>
        </p:nvSpPr>
        <p:spPr>
          <a:xfrm>
            <a:off x="3611880" y="3291840"/>
            <a:ext cx="1920240" cy="640080"/>
          </a:xfrm>
          <a:prstGeom prst="rect">
            <a:avLst/>
          </a:prstGeom>
          <a:noFill/>
          <a:ln/>
        </p:spPr>
        <p:txBody>
          <a:bodyPr wrap="square" lIns="0" tIns="0" rIns="0" bIns="0" rtlCol="0" anchor="t"/>
          <a:lstStyle/>
          <a:p>
            <a:pPr marL="0" indent="0" algn="ctr">
              <a:buNone/>
            </a:pPr>
            <a:r>
              <a:rPr lang="en-US" sz="1200" dirty="0">
                <a:solidFill>
                  <a:srgbClr val="64748B"/>
                </a:solidFill>
                <a:latin typeface="Calibri" pitchFamily="34" charset="0"/>
                <a:ea typeface="Calibri" pitchFamily="34" charset="-122"/>
                <a:cs typeface="Calibri" pitchFamily="34" charset="-120"/>
              </a:rPr>
              <a:t>Deploys your app live</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on the internet</a:t>
            </a:r>
            <a:endParaRPr lang="en-US" sz="1200" dirty="0"/>
          </a:p>
        </p:txBody>
      </p:sp>
      <p:sp>
        <p:nvSpPr>
          <p:cNvPr id="17" name="Shape 13"/>
          <p:cNvSpPr/>
          <p:nvPr/>
        </p:nvSpPr>
        <p:spPr>
          <a:xfrm>
            <a:off x="6172200" y="1188720"/>
            <a:ext cx="2286000" cy="2926080"/>
          </a:xfrm>
          <a:prstGeom prst="roundRect">
            <a:avLst>
              <a:gd name="adj" fmla="val 6000"/>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8" name="Shape 14"/>
          <p:cNvSpPr/>
          <p:nvPr/>
        </p:nvSpPr>
        <p:spPr>
          <a:xfrm>
            <a:off x="6629400" y="1371600"/>
            <a:ext cx="1371600" cy="320040"/>
          </a:xfrm>
          <a:prstGeom prst="roundRect">
            <a:avLst>
              <a:gd name="adj" fmla="val 22857"/>
            </a:avLst>
          </a:prstGeom>
          <a:solidFill>
            <a:srgbClr val="0E7490"/>
          </a:solidFill>
          <a:ln/>
        </p:spPr>
        <p:txBody>
          <a:bodyPr/>
          <a:lstStyle/>
          <a:p>
            <a:endParaRPr lang="en-US"/>
          </a:p>
        </p:txBody>
      </p:sp>
      <p:sp>
        <p:nvSpPr>
          <p:cNvPr id="19" name="Text 15"/>
          <p:cNvSpPr/>
          <p:nvPr/>
        </p:nvSpPr>
        <p:spPr>
          <a:xfrm>
            <a:off x="6629400" y="1371600"/>
            <a:ext cx="137160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DATABASE</a:t>
            </a:r>
            <a:endParaRPr lang="en-US" sz="1000" dirty="0"/>
          </a:p>
        </p:txBody>
      </p:sp>
      <p:sp>
        <p:nvSpPr>
          <p:cNvPr id="20" name="Shape 16"/>
          <p:cNvSpPr/>
          <p:nvPr/>
        </p:nvSpPr>
        <p:spPr>
          <a:xfrm>
            <a:off x="6903720" y="1874520"/>
            <a:ext cx="822960" cy="822960"/>
          </a:xfrm>
          <a:prstGeom prst="ellipse">
            <a:avLst/>
          </a:prstGeom>
          <a:solidFill>
            <a:srgbClr val="0F172A"/>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7109460" y="2080260"/>
            <a:ext cx="411480" cy="411480"/>
          </a:xfrm>
          <a:prstGeom prst="rect">
            <a:avLst/>
          </a:prstGeom>
        </p:spPr>
      </p:pic>
      <p:sp>
        <p:nvSpPr>
          <p:cNvPr id="22" name="Text 17"/>
          <p:cNvSpPr/>
          <p:nvPr/>
        </p:nvSpPr>
        <p:spPr>
          <a:xfrm>
            <a:off x="6172200" y="2880360"/>
            <a:ext cx="2286000" cy="411480"/>
          </a:xfrm>
          <a:prstGeom prst="rect">
            <a:avLst/>
          </a:prstGeom>
          <a:noFill/>
          <a:ln/>
        </p:spPr>
        <p:txBody>
          <a:bodyPr wrap="square" lIns="0" tIns="0" rIns="0" bIns="0" rtlCol="0" anchor="ctr"/>
          <a:lstStyle/>
          <a:p>
            <a:pPr marL="0" indent="0" algn="ctr">
              <a:buNone/>
            </a:pPr>
            <a:r>
              <a:rPr lang="en-US" sz="2000" b="1" dirty="0">
                <a:solidFill>
                  <a:srgbClr val="1E293B"/>
                </a:solidFill>
                <a:latin typeface="Trebuchet MS" pitchFamily="34" charset="0"/>
                <a:ea typeface="Trebuchet MS" pitchFamily="34" charset="-122"/>
                <a:cs typeface="Trebuchet MS" pitchFamily="34" charset="-120"/>
              </a:rPr>
              <a:t>InstantDB</a:t>
            </a:r>
            <a:endParaRPr lang="en-US" sz="2000" dirty="0"/>
          </a:p>
        </p:txBody>
      </p:sp>
      <p:sp>
        <p:nvSpPr>
          <p:cNvPr id="23" name="Text 18"/>
          <p:cNvSpPr/>
          <p:nvPr/>
        </p:nvSpPr>
        <p:spPr>
          <a:xfrm>
            <a:off x="6355080" y="3291840"/>
            <a:ext cx="1920240" cy="640080"/>
          </a:xfrm>
          <a:prstGeom prst="rect">
            <a:avLst/>
          </a:prstGeom>
          <a:noFill/>
          <a:ln/>
        </p:spPr>
        <p:txBody>
          <a:bodyPr wrap="square" lIns="0" tIns="0" rIns="0" bIns="0" rtlCol="0" anchor="t"/>
          <a:lstStyle/>
          <a:p>
            <a:pPr marL="0" indent="0" algn="ctr">
              <a:buNone/>
            </a:pPr>
            <a:r>
              <a:rPr lang="en-US" sz="1200" dirty="0">
                <a:solidFill>
                  <a:srgbClr val="64748B"/>
                </a:solidFill>
                <a:latin typeface="Calibri" pitchFamily="34" charset="0"/>
                <a:ea typeface="Calibri" pitchFamily="34" charset="-122"/>
                <a:cs typeface="Calibri" pitchFamily="34" charset="-120"/>
              </a:rPr>
              <a:t>Stores your data and</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syncs it in real time</a:t>
            </a:r>
            <a:endParaRPr lang="en-US" sz="1200" dirty="0"/>
          </a:p>
        </p:txBody>
      </p:sp>
      <p:pic>
        <p:nvPicPr>
          <p:cNvPr id="24" name="Image 3" descr="preencoded.png"/>
          <p:cNvPicPr>
            <a:picLocks noChangeAspect="1"/>
          </p:cNvPicPr>
          <p:nvPr/>
        </p:nvPicPr>
        <p:blipFill>
          <a:blip r:embed="rId6"/>
          <a:stretch>
            <a:fillRect/>
          </a:stretch>
        </p:blipFill>
        <p:spPr>
          <a:xfrm>
            <a:off x="3044952" y="2194560"/>
            <a:ext cx="274320" cy="274320"/>
          </a:xfrm>
          <a:prstGeom prst="rect">
            <a:avLst/>
          </a:prstGeom>
        </p:spPr>
      </p:pic>
      <p:pic>
        <p:nvPicPr>
          <p:cNvPr id="25" name="Image 4" descr="preencoded.png"/>
          <p:cNvPicPr>
            <a:picLocks noChangeAspect="1"/>
          </p:cNvPicPr>
          <p:nvPr/>
        </p:nvPicPr>
        <p:blipFill>
          <a:blip r:embed="rId6"/>
          <a:stretch>
            <a:fillRect/>
          </a:stretch>
        </p:blipFill>
        <p:spPr>
          <a:xfrm>
            <a:off x="5788152" y="2194560"/>
            <a:ext cx="274320" cy="274320"/>
          </a:xfrm>
          <a:prstGeom prst="rect">
            <a:avLst/>
          </a:prstGeom>
        </p:spPr>
      </p:pic>
      <p:sp>
        <p:nvSpPr>
          <p:cNvPr id="26" name="Shape 19"/>
          <p:cNvSpPr/>
          <p:nvPr/>
        </p:nvSpPr>
        <p:spPr>
          <a:xfrm>
            <a:off x="1371600" y="4434840"/>
            <a:ext cx="6400800" cy="502920"/>
          </a:xfrm>
          <a:prstGeom prst="roundRect">
            <a:avLst>
              <a:gd name="adj" fmla="val 18182"/>
            </a:avLst>
          </a:prstGeom>
          <a:solidFill>
            <a:srgbClr val="0F172A"/>
          </a:solidFill>
          <a:ln/>
        </p:spPr>
        <p:txBody>
          <a:bodyPr/>
          <a:lstStyle/>
          <a:p>
            <a:endParaRPr lang="en-US"/>
          </a:p>
        </p:txBody>
      </p:sp>
      <p:sp>
        <p:nvSpPr>
          <p:cNvPr id="27" name="Text 20"/>
          <p:cNvSpPr/>
          <p:nvPr/>
        </p:nvSpPr>
        <p:spPr>
          <a:xfrm>
            <a:off x="1371600" y="4434840"/>
            <a:ext cx="6400800" cy="502920"/>
          </a:xfrm>
          <a:prstGeom prst="rect">
            <a:avLst/>
          </a:prstGeom>
          <a:noFill/>
          <a:ln/>
        </p:spPr>
        <p:txBody>
          <a:bodyPr wrap="square" lIns="0" tIns="0" rIns="0" bIns="0"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Same three roles — now you know which tool fills each one.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4">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200" b="1" dirty="0">
                <a:solidFill>
                  <a:srgbClr val="1E293B"/>
                </a:solidFill>
                <a:latin typeface="Trebuchet MS" pitchFamily="34" charset="0"/>
                <a:ea typeface="Trebuchet MS" pitchFamily="34" charset="-122"/>
                <a:cs typeface="Trebuchet MS" pitchFamily="34" charset="-120"/>
              </a:rPr>
              <a:t>What Is React?</a:t>
            </a:r>
            <a:endParaRPr lang="en-US" sz="3200" dirty="0"/>
          </a:p>
        </p:txBody>
      </p:sp>
      <p:sp>
        <p:nvSpPr>
          <p:cNvPr id="3" name="Text 1"/>
          <p:cNvSpPr/>
          <p:nvPr/>
        </p:nvSpPr>
        <p:spPr>
          <a:xfrm>
            <a:off x="548640" y="822960"/>
            <a:ext cx="8046720"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React apps are built from reusable building blocks called components.</a:t>
            </a:r>
            <a:endParaRPr lang="en-US" sz="1400" dirty="0"/>
          </a:p>
        </p:txBody>
      </p:sp>
      <p:sp>
        <p:nvSpPr>
          <p:cNvPr id="4" name="Shape 2"/>
          <p:cNvSpPr/>
          <p:nvPr/>
        </p:nvSpPr>
        <p:spPr>
          <a:xfrm>
            <a:off x="731520" y="1280160"/>
            <a:ext cx="4572000" cy="320040"/>
          </a:xfrm>
          <a:prstGeom prst="rect">
            <a:avLst/>
          </a:prstGeom>
          <a:solidFill>
            <a:srgbClr val="E2E8F0"/>
          </a:solidFill>
          <a:ln/>
        </p:spPr>
        <p:txBody>
          <a:bodyPr/>
          <a:lstStyle/>
          <a:p>
            <a:endParaRPr lang="en-US"/>
          </a:p>
        </p:txBody>
      </p:sp>
      <p:sp>
        <p:nvSpPr>
          <p:cNvPr id="5" name="Shape 3"/>
          <p:cNvSpPr/>
          <p:nvPr/>
        </p:nvSpPr>
        <p:spPr>
          <a:xfrm>
            <a:off x="868680" y="1389888"/>
            <a:ext cx="109728" cy="109728"/>
          </a:xfrm>
          <a:prstGeom prst="ellipse">
            <a:avLst/>
          </a:prstGeom>
          <a:solidFill>
            <a:srgbClr val="EF4444"/>
          </a:solidFill>
          <a:ln/>
        </p:spPr>
        <p:txBody>
          <a:bodyPr/>
          <a:lstStyle/>
          <a:p>
            <a:endParaRPr lang="en-US"/>
          </a:p>
        </p:txBody>
      </p:sp>
      <p:sp>
        <p:nvSpPr>
          <p:cNvPr id="6" name="Shape 4"/>
          <p:cNvSpPr/>
          <p:nvPr/>
        </p:nvSpPr>
        <p:spPr>
          <a:xfrm>
            <a:off x="1033272" y="1389888"/>
            <a:ext cx="109728" cy="109728"/>
          </a:xfrm>
          <a:prstGeom prst="ellipse">
            <a:avLst/>
          </a:prstGeom>
          <a:solidFill>
            <a:srgbClr val="F59E0B"/>
          </a:solidFill>
          <a:ln/>
        </p:spPr>
        <p:txBody>
          <a:bodyPr/>
          <a:lstStyle/>
          <a:p>
            <a:endParaRPr lang="en-US"/>
          </a:p>
        </p:txBody>
      </p:sp>
      <p:sp>
        <p:nvSpPr>
          <p:cNvPr id="7" name="Shape 5"/>
          <p:cNvSpPr/>
          <p:nvPr/>
        </p:nvSpPr>
        <p:spPr>
          <a:xfrm>
            <a:off x="1197864" y="1389888"/>
            <a:ext cx="109728" cy="109728"/>
          </a:xfrm>
          <a:prstGeom prst="ellipse">
            <a:avLst/>
          </a:prstGeom>
          <a:solidFill>
            <a:srgbClr val="10B981"/>
          </a:solidFill>
          <a:ln/>
        </p:spPr>
        <p:txBody>
          <a:bodyPr/>
          <a:lstStyle/>
          <a:p>
            <a:endParaRPr lang="en-US"/>
          </a:p>
        </p:txBody>
      </p:sp>
      <p:sp>
        <p:nvSpPr>
          <p:cNvPr id="8" name="Shape 6"/>
          <p:cNvSpPr/>
          <p:nvPr/>
        </p:nvSpPr>
        <p:spPr>
          <a:xfrm>
            <a:off x="731520" y="1600200"/>
            <a:ext cx="4572000" cy="2697480"/>
          </a:xfrm>
          <a:prstGeom prst="rect">
            <a:avLst/>
          </a:prstGeom>
          <a:solidFill>
            <a:srgbClr val="FFFFFF"/>
          </a:solidFill>
          <a:ln w="12700">
            <a:solidFill>
              <a:srgbClr val="E2E8F0"/>
            </a:solidFill>
            <a:prstDash val="solid"/>
          </a:ln>
        </p:spPr>
        <p:txBody>
          <a:bodyPr/>
          <a:lstStyle/>
          <a:p>
            <a:endParaRPr lang="en-US"/>
          </a:p>
        </p:txBody>
      </p:sp>
      <p:sp>
        <p:nvSpPr>
          <p:cNvPr id="9" name="Shape 7"/>
          <p:cNvSpPr/>
          <p:nvPr/>
        </p:nvSpPr>
        <p:spPr>
          <a:xfrm>
            <a:off x="868680" y="1737360"/>
            <a:ext cx="4297680" cy="411480"/>
          </a:xfrm>
          <a:prstGeom prst="rect">
            <a:avLst/>
          </a:prstGeom>
          <a:solidFill>
            <a:srgbClr val="ECFEFF"/>
          </a:solidFill>
          <a:ln w="19050">
            <a:solidFill>
              <a:srgbClr val="0891B2"/>
            </a:solidFill>
            <a:prstDash val="dash"/>
          </a:ln>
        </p:spPr>
        <p:txBody>
          <a:bodyPr/>
          <a:lstStyle/>
          <a:p>
            <a:endParaRPr lang="en-US"/>
          </a:p>
        </p:txBody>
      </p:sp>
      <p:sp>
        <p:nvSpPr>
          <p:cNvPr id="10" name="Text 8"/>
          <p:cNvSpPr/>
          <p:nvPr/>
        </p:nvSpPr>
        <p:spPr>
          <a:xfrm>
            <a:off x="1005840" y="1737360"/>
            <a:ext cx="2286000" cy="411480"/>
          </a:xfrm>
          <a:prstGeom prst="rect">
            <a:avLst/>
          </a:prstGeom>
          <a:noFill/>
          <a:ln/>
        </p:spPr>
        <p:txBody>
          <a:bodyPr wrap="square" lIns="0" tIns="0" rIns="0" bIns="0" rtlCol="0" anchor="ctr"/>
          <a:lstStyle/>
          <a:p>
            <a:pPr marL="0" indent="0">
              <a:buNone/>
            </a:pPr>
            <a:r>
              <a:rPr lang="en-US" sz="1200" b="1" dirty="0">
                <a:solidFill>
                  <a:srgbClr val="0891B2"/>
                </a:solidFill>
                <a:latin typeface="Trebuchet MS" pitchFamily="34" charset="0"/>
                <a:ea typeface="Trebuchet MS" pitchFamily="34" charset="-122"/>
                <a:cs typeface="Trebuchet MS" pitchFamily="34" charset="-120"/>
              </a:rPr>
              <a:t>My Expense Tracker</a:t>
            </a:r>
            <a:endParaRPr lang="en-US" sz="1200" dirty="0"/>
          </a:p>
        </p:txBody>
      </p:sp>
      <p:sp>
        <p:nvSpPr>
          <p:cNvPr id="11" name="Shape 9"/>
          <p:cNvSpPr/>
          <p:nvPr/>
        </p:nvSpPr>
        <p:spPr>
          <a:xfrm>
            <a:off x="868680" y="2286000"/>
            <a:ext cx="4297680" cy="640080"/>
          </a:xfrm>
          <a:prstGeom prst="rect">
            <a:avLst/>
          </a:prstGeom>
          <a:solidFill>
            <a:srgbClr val="F8FAFC"/>
          </a:solidFill>
          <a:ln w="19050">
            <a:solidFill>
              <a:srgbClr val="0891B2"/>
            </a:solidFill>
            <a:prstDash val="dash"/>
          </a:ln>
        </p:spPr>
        <p:txBody>
          <a:bodyPr/>
          <a:lstStyle/>
          <a:p>
            <a:endParaRPr lang="en-US"/>
          </a:p>
        </p:txBody>
      </p:sp>
      <p:sp>
        <p:nvSpPr>
          <p:cNvPr id="12" name="Text 10"/>
          <p:cNvSpPr/>
          <p:nvPr/>
        </p:nvSpPr>
        <p:spPr>
          <a:xfrm>
            <a:off x="1005840" y="2286000"/>
            <a:ext cx="4023360" cy="640080"/>
          </a:xfrm>
          <a:prstGeom prst="rect">
            <a:avLst/>
          </a:prstGeom>
          <a:noFill/>
          <a:ln/>
        </p:spPr>
        <p:txBody>
          <a:bodyPr wrap="square" lIns="0" tIns="0" rIns="0" bIns="0" rtlCol="0" anchor="ctr"/>
          <a:lstStyle/>
          <a:p>
            <a:pPr marL="0" indent="0">
              <a:buNone/>
            </a:pPr>
            <a:r>
              <a:rPr lang="en-US" sz="1000" dirty="0">
                <a:solidFill>
                  <a:srgbClr val="64748B"/>
                </a:solidFill>
                <a:latin typeface="Consolas" pitchFamily="34" charset="0"/>
                <a:ea typeface="Consolas" pitchFamily="34" charset="-122"/>
                <a:cs typeface="Consolas" pitchFamily="34" charset="-120"/>
              </a:rPr>
              <a:t>Add Expense:  [  description  ]  [ $0.00 ]  [ Add ]</a:t>
            </a:r>
            <a:endParaRPr lang="en-US" sz="1000" dirty="0"/>
          </a:p>
        </p:txBody>
      </p:sp>
      <p:sp>
        <p:nvSpPr>
          <p:cNvPr id="13" name="Shape 11"/>
          <p:cNvSpPr/>
          <p:nvPr/>
        </p:nvSpPr>
        <p:spPr>
          <a:xfrm>
            <a:off x="868680" y="3063240"/>
            <a:ext cx="4297680" cy="914400"/>
          </a:xfrm>
          <a:prstGeom prst="rect">
            <a:avLst/>
          </a:prstGeom>
          <a:solidFill>
            <a:srgbClr val="F8FAFC"/>
          </a:solidFill>
          <a:ln w="19050">
            <a:solidFill>
              <a:srgbClr val="0891B2"/>
            </a:solidFill>
            <a:prstDash val="dash"/>
          </a:ln>
        </p:spPr>
        <p:txBody>
          <a:bodyPr/>
          <a:lstStyle/>
          <a:p>
            <a:endParaRPr lang="en-US"/>
          </a:p>
        </p:txBody>
      </p:sp>
      <p:sp>
        <p:nvSpPr>
          <p:cNvPr id="14" name="Text 12"/>
          <p:cNvSpPr/>
          <p:nvPr/>
        </p:nvSpPr>
        <p:spPr>
          <a:xfrm>
            <a:off x="1005840" y="3108960"/>
            <a:ext cx="4023360" cy="822960"/>
          </a:xfrm>
          <a:prstGeom prst="rect">
            <a:avLst/>
          </a:prstGeom>
          <a:noFill/>
          <a:ln/>
        </p:spPr>
        <p:txBody>
          <a:bodyPr wrap="square" lIns="0" tIns="0" rIns="0" bIns="0" rtlCol="0" anchor="t"/>
          <a:lstStyle/>
          <a:p>
            <a:pPr marL="0" indent="0">
              <a:buNone/>
            </a:pPr>
            <a:r>
              <a:rPr lang="en-US" sz="1000" dirty="0">
                <a:solidFill>
                  <a:srgbClr val="334155"/>
                </a:solidFill>
                <a:latin typeface="Consolas" pitchFamily="34" charset="0"/>
                <a:ea typeface="Consolas" pitchFamily="34" charset="-122"/>
                <a:cs typeface="Consolas" pitchFamily="34" charset="-120"/>
              </a:rPr>
              <a:t>Coffee           $4.50    Mar 9</a:t>
            </a:r>
            <a:endParaRPr lang="en-US" sz="1000" dirty="0"/>
          </a:p>
          <a:p>
            <a:pPr marL="0" indent="0">
              <a:buNone/>
            </a:pPr>
            <a:r>
              <a:rPr lang="en-US" sz="1000" dirty="0">
                <a:solidFill>
                  <a:srgbClr val="334155"/>
                </a:solidFill>
                <a:latin typeface="Consolas" pitchFamily="34" charset="0"/>
                <a:ea typeface="Consolas" pitchFamily="34" charset="-122"/>
                <a:cs typeface="Consolas" pitchFamily="34" charset="-120"/>
              </a:rPr>
              <a:t>Lunch           $12.00    Mar 9</a:t>
            </a:r>
            <a:endParaRPr lang="en-US" sz="1000" dirty="0"/>
          </a:p>
          <a:p>
            <a:pPr marL="0" indent="0">
              <a:buNone/>
            </a:pPr>
            <a:r>
              <a:rPr lang="en-US" sz="1000" dirty="0">
                <a:solidFill>
                  <a:srgbClr val="334155"/>
                </a:solidFill>
                <a:latin typeface="Consolas" pitchFamily="34" charset="0"/>
                <a:ea typeface="Consolas" pitchFamily="34" charset="-122"/>
                <a:cs typeface="Consolas" pitchFamily="34" charset="-120"/>
              </a:rPr>
              <a:t>Uber              $8.75    Mar 8</a:t>
            </a:r>
            <a:endParaRPr lang="en-US" sz="1000" dirty="0"/>
          </a:p>
        </p:txBody>
      </p:sp>
      <p:sp>
        <p:nvSpPr>
          <p:cNvPr id="15" name="Shape 13"/>
          <p:cNvSpPr/>
          <p:nvPr/>
        </p:nvSpPr>
        <p:spPr>
          <a:xfrm>
            <a:off x="868680" y="4114800"/>
            <a:ext cx="4297680" cy="365760"/>
          </a:xfrm>
          <a:prstGeom prst="rect">
            <a:avLst/>
          </a:prstGeom>
          <a:solidFill>
            <a:srgbClr val="ECFEFF"/>
          </a:solidFill>
          <a:ln w="19050">
            <a:solidFill>
              <a:srgbClr val="0891B2"/>
            </a:solidFill>
            <a:prstDash val="dash"/>
          </a:ln>
        </p:spPr>
        <p:txBody>
          <a:bodyPr/>
          <a:lstStyle/>
          <a:p>
            <a:endParaRPr lang="en-US"/>
          </a:p>
        </p:txBody>
      </p:sp>
      <p:sp>
        <p:nvSpPr>
          <p:cNvPr id="16" name="Text 14"/>
          <p:cNvSpPr/>
          <p:nvPr/>
        </p:nvSpPr>
        <p:spPr>
          <a:xfrm>
            <a:off x="1005840" y="4114800"/>
            <a:ext cx="2286000" cy="365760"/>
          </a:xfrm>
          <a:prstGeom prst="rect">
            <a:avLst/>
          </a:prstGeom>
          <a:noFill/>
          <a:ln/>
        </p:spPr>
        <p:txBody>
          <a:bodyPr wrap="square" lIns="0" tIns="0" rIns="0" bIns="0" rtlCol="0" anchor="ctr"/>
          <a:lstStyle/>
          <a:p>
            <a:pPr marL="0" indent="0">
              <a:buNone/>
            </a:pPr>
            <a:r>
              <a:rPr lang="en-US" sz="1200" b="1" dirty="0">
                <a:solidFill>
                  <a:srgbClr val="0891B2"/>
                </a:solidFill>
                <a:latin typeface="Trebuchet MS" pitchFamily="34" charset="0"/>
                <a:ea typeface="Trebuchet MS" pitchFamily="34" charset="-122"/>
                <a:cs typeface="Trebuchet MS" pitchFamily="34" charset="-120"/>
              </a:rPr>
              <a:t>Total: $25.25</a:t>
            </a:r>
            <a:endParaRPr lang="en-US" sz="1200" dirty="0"/>
          </a:p>
        </p:txBody>
      </p:sp>
      <p:sp>
        <p:nvSpPr>
          <p:cNvPr id="17" name="Shape 15"/>
          <p:cNvSpPr/>
          <p:nvPr/>
        </p:nvSpPr>
        <p:spPr>
          <a:xfrm>
            <a:off x="5669280" y="1737360"/>
            <a:ext cx="1828800" cy="502920"/>
          </a:xfrm>
          <a:prstGeom prst="roundRect">
            <a:avLst>
              <a:gd name="adj" fmla="val 14545"/>
            </a:avLst>
          </a:prstGeom>
          <a:solidFill>
            <a:srgbClr val="0891B2"/>
          </a:solidFill>
          <a:ln/>
        </p:spPr>
        <p:txBody>
          <a:bodyPr/>
          <a:lstStyle/>
          <a:p>
            <a:endParaRPr lang="en-US"/>
          </a:p>
        </p:txBody>
      </p:sp>
      <p:pic>
        <p:nvPicPr>
          <p:cNvPr id="18" name="Image 0" descr="preencoded.png"/>
          <p:cNvPicPr>
            <a:picLocks noChangeAspect="1"/>
          </p:cNvPicPr>
          <p:nvPr/>
        </p:nvPicPr>
        <p:blipFill>
          <a:blip r:embed="rId3"/>
          <a:stretch>
            <a:fillRect/>
          </a:stretch>
        </p:blipFill>
        <p:spPr>
          <a:xfrm>
            <a:off x="5779008" y="1828800"/>
            <a:ext cx="320040" cy="320040"/>
          </a:xfrm>
          <a:prstGeom prst="rect">
            <a:avLst/>
          </a:prstGeom>
        </p:spPr>
      </p:pic>
      <p:sp>
        <p:nvSpPr>
          <p:cNvPr id="19" name="Text 16"/>
          <p:cNvSpPr/>
          <p:nvPr/>
        </p:nvSpPr>
        <p:spPr>
          <a:xfrm>
            <a:off x="6126480" y="1737360"/>
            <a:ext cx="1280160" cy="5029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Header</a:t>
            </a:r>
            <a:endParaRPr lang="en-US" sz="1000" dirty="0"/>
          </a:p>
          <a:p>
            <a:pPr marL="0" indent="0">
              <a:buNone/>
            </a:pPr>
            <a:r>
              <a:rPr lang="en-US" sz="1000" b="1" dirty="0">
                <a:solidFill>
                  <a:srgbClr val="FFFFFF"/>
                </a:solidFill>
                <a:latin typeface="Calibri" pitchFamily="34" charset="0"/>
                <a:ea typeface="Calibri" pitchFamily="34" charset="-122"/>
                <a:cs typeface="Calibri" pitchFamily="34" charset="-120"/>
              </a:rPr>
              <a:t>Component</a:t>
            </a:r>
            <a:endParaRPr lang="en-US" sz="1000" dirty="0"/>
          </a:p>
        </p:txBody>
      </p:sp>
      <p:sp>
        <p:nvSpPr>
          <p:cNvPr id="20" name="Shape 17"/>
          <p:cNvSpPr/>
          <p:nvPr/>
        </p:nvSpPr>
        <p:spPr>
          <a:xfrm>
            <a:off x="5669280" y="2331720"/>
            <a:ext cx="1828800" cy="502920"/>
          </a:xfrm>
          <a:prstGeom prst="roundRect">
            <a:avLst>
              <a:gd name="adj" fmla="val 14545"/>
            </a:avLst>
          </a:prstGeom>
          <a:solidFill>
            <a:srgbClr val="0891B2"/>
          </a:solidFill>
          <a:ln/>
        </p:spPr>
        <p:txBody>
          <a:bodyPr/>
          <a:lstStyle/>
          <a:p>
            <a:endParaRPr lang="en-US"/>
          </a:p>
        </p:txBody>
      </p:sp>
      <p:pic>
        <p:nvPicPr>
          <p:cNvPr id="21" name="Image 1" descr="preencoded.png"/>
          <p:cNvPicPr>
            <a:picLocks noChangeAspect="1"/>
          </p:cNvPicPr>
          <p:nvPr/>
        </p:nvPicPr>
        <p:blipFill>
          <a:blip r:embed="rId3"/>
          <a:stretch>
            <a:fillRect/>
          </a:stretch>
        </p:blipFill>
        <p:spPr>
          <a:xfrm>
            <a:off x="5779008" y="2423160"/>
            <a:ext cx="320040" cy="320040"/>
          </a:xfrm>
          <a:prstGeom prst="rect">
            <a:avLst/>
          </a:prstGeom>
        </p:spPr>
      </p:pic>
      <p:sp>
        <p:nvSpPr>
          <p:cNvPr id="22" name="Text 18"/>
          <p:cNvSpPr/>
          <p:nvPr/>
        </p:nvSpPr>
        <p:spPr>
          <a:xfrm>
            <a:off x="6126480" y="2331720"/>
            <a:ext cx="1280160" cy="5029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Form</a:t>
            </a:r>
            <a:endParaRPr lang="en-US" sz="1000" dirty="0"/>
          </a:p>
          <a:p>
            <a:pPr marL="0" indent="0">
              <a:buNone/>
            </a:pPr>
            <a:r>
              <a:rPr lang="en-US" sz="1000" b="1" dirty="0">
                <a:solidFill>
                  <a:srgbClr val="FFFFFF"/>
                </a:solidFill>
                <a:latin typeface="Calibri" pitchFamily="34" charset="0"/>
                <a:ea typeface="Calibri" pitchFamily="34" charset="-122"/>
                <a:cs typeface="Calibri" pitchFamily="34" charset="-120"/>
              </a:rPr>
              <a:t>Component</a:t>
            </a:r>
            <a:endParaRPr lang="en-US" sz="1000" dirty="0"/>
          </a:p>
        </p:txBody>
      </p:sp>
      <p:sp>
        <p:nvSpPr>
          <p:cNvPr id="23" name="Shape 19"/>
          <p:cNvSpPr/>
          <p:nvPr/>
        </p:nvSpPr>
        <p:spPr>
          <a:xfrm>
            <a:off x="5669280" y="3108960"/>
            <a:ext cx="1828800" cy="502920"/>
          </a:xfrm>
          <a:prstGeom prst="roundRect">
            <a:avLst>
              <a:gd name="adj" fmla="val 14545"/>
            </a:avLst>
          </a:prstGeom>
          <a:solidFill>
            <a:srgbClr val="0891B2"/>
          </a:solidFill>
          <a:ln/>
        </p:spPr>
        <p:txBody>
          <a:bodyPr/>
          <a:lstStyle/>
          <a:p>
            <a:endParaRPr lang="en-US"/>
          </a:p>
        </p:txBody>
      </p:sp>
      <p:pic>
        <p:nvPicPr>
          <p:cNvPr id="24" name="Image 2" descr="preencoded.png"/>
          <p:cNvPicPr>
            <a:picLocks noChangeAspect="1"/>
          </p:cNvPicPr>
          <p:nvPr/>
        </p:nvPicPr>
        <p:blipFill>
          <a:blip r:embed="rId3"/>
          <a:stretch>
            <a:fillRect/>
          </a:stretch>
        </p:blipFill>
        <p:spPr>
          <a:xfrm>
            <a:off x="5779008" y="3200400"/>
            <a:ext cx="320040" cy="320040"/>
          </a:xfrm>
          <a:prstGeom prst="rect">
            <a:avLst/>
          </a:prstGeom>
        </p:spPr>
      </p:pic>
      <p:sp>
        <p:nvSpPr>
          <p:cNvPr id="25" name="Text 20"/>
          <p:cNvSpPr/>
          <p:nvPr/>
        </p:nvSpPr>
        <p:spPr>
          <a:xfrm>
            <a:off x="6126480" y="3108960"/>
            <a:ext cx="1280160" cy="5029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List</a:t>
            </a:r>
            <a:endParaRPr lang="en-US" sz="1000" dirty="0"/>
          </a:p>
          <a:p>
            <a:pPr marL="0" indent="0">
              <a:buNone/>
            </a:pPr>
            <a:r>
              <a:rPr lang="en-US" sz="1000" b="1" dirty="0">
                <a:solidFill>
                  <a:srgbClr val="FFFFFF"/>
                </a:solidFill>
                <a:latin typeface="Calibri" pitchFamily="34" charset="0"/>
                <a:ea typeface="Calibri" pitchFamily="34" charset="-122"/>
                <a:cs typeface="Calibri" pitchFamily="34" charset="-120"/>
              </a:rPr>
              <a:t>Component</a:t>
            </a:r>
            <a:endParaRPr lang="en-US" sz="1000" dirty="0"/>
          </a:p>
        </p:txBody>
      </p:sp>
      <p:sp>
        <p:nvSpPr>
          <p:cNvPr id="26" name="Shape 21"/>
          <p:cNvSpPr/>
          <p:nvPr/>
        </p:nvSpPr>
        <p:spPr>
          <a:xfrm>
            <a:off x="5669280" y="4023360"/>
            <a:ext cx="1828800" cy="502920"/>
          </a:xfrm>
          <a:prstGeom prst="roundRect">
            <a:avLst>
              <a:gd name="adj" fmla="val 14545"/>
            </a:avLst>
          </a:prstGeom>
          <a:solidFill>
            <a:srgbClr val="0891B2"/>
          </a:solidFill>
          <a:ln/>
        </p:spPr>
        <p:txBody>
          <a:bodyPr/>
          <a:lstStyle/>
          <a:p>
            <a:endParaRPr lang="en-US"/>
          </a:p>
        </p:txBody>
      </p:sp>
      <p:pic>
        <p:nvPicPr>
          <p:cNvPr id="27" name="Image 3" descr="preencoded.png"/>
          <p:cNvPicPr>
            <a:picLocks noChangeAspect="1"/>
          </p:cNvPicPr>
          <p:nvPr/>
        </p:nvPicPr>
        <p:blipFill>
          <a:blip r:embed="rId3"/>
          <a:stretch>
            <a:fillRect/>
          </a:stretch>
        </p:blipFill>
        <p:spPr>
          <a:xfrm>
            <a:off x="5779008" y="4114800"/>
            <a:ext cx="320040" cy="320040"/>
          </a:xfrm>
          <a:prstGeom prst="rect">
            <a:avLst/>
          </a:prstGeom>
        </p:spPr>
      </p:pic>
      <p:sp>
        <p:nvSpPr>
          <p:cNvPr id="28" name="Text 22"/>
          <p:cNvSpPr/>
          <p:nvPr/>
        </p:nvSpPr>
        <p:spPr>
          <a:xfrm>
            <a:off x="6126480" y="4023360"/>
            <a:ext cx="1280160" cy="5029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Total</a:t>
            </a:r>
            <a:endParaRPr lang="en-US" sz="1000" dirty="0"/>
          </a:p>
          <a:p>
            <a:pPr marL="0" indent="0">
              <a:buNone/>
            </a:pPr>
            <a:r>
              <a:rPr lang="en-US" sz="1000" b="1" dirty="0">
                <a:solidFill>
                  <a:srgbClr val="FFFFFF"/>
                </a:solidFill>
                <a:latin typeface="Calibri" pitchFamily="34" charset="0"/>
                <a:ea typeface="Calibri" pitchFamily="34" charset="-122"/>
                <a:cs typeface="Calibri" pitchFamily="34" charset="-120"/>
              </a:rPr>
              <a:t>Component</a:t>
            </a:r>
            <a:endParaRPr lang="en-US" sz="1000" dirty="0"/>
          </a:p>
        </p:txBody>
      </p:sp>
      <p:sp>
        <p:nvSpPr>
          <p:cNvPr id="29" name="Shape 23"/>
          <p:cNvSpPr/>
          <p:nvPr/>
        </p:nvSpPr>
        <p:spPr>
          <a:xfrm>
            <a:off x="548640" y="4572000"/>
            <a:ext cx="8046720" cy="411480"/>
          </a:xfrm>
          <a:prstGeom prst="roundRect">
            <a:avLst>
              <a:gd name="adj" fmla="val 17778"/>
            </a:avLst>
          </a:prstGeom>
          <a:solidFill>
            <a:srgbClr val="ECFEFF"/>
          </a:solidFill>
          <a:ln/>
        </p:spPr>
        <p:txBody>
          <a:bodyPr/>
          <a:lstStyle/>
          <a:p>
            <a:endParaRPr lang="en-US"/>
          </a:p>
        </p:txBody>
      </p:sp>
      <p:sp>
        <p:nvSpPr>
          <p:cNvPr id="30" name="Text 24"/>
          <p:cNvSpPr/>
          <p:nvPr/>
        </p:nvSpPr>
        <p:spPr>
          <a:xfrm>
            <a:off x="731520" y="4572000"/>
            <a:ext cx="7680960" cy="411480"/>
          </a:xfrm>
          <a:prstGeom prst="rect">
            <a:avLst/>
          </a:prstGeom>
          <a:noFill/>
          <a:ln/>
        </p:spPr>
        <p:txBody>
          <a:bodyPr wrap="square" lIns="0" tIns="0" rIns="0" bIns="0" rtlCol="0" anchor="ctr"/>
          <a:lstStyle/>
          <a:p>
            <a:pPr marL="0" indent="0" algn="ctr">
              <a:buNone/>
            </a:pPr>
            <a:r>
              <a:rPr lang="en-US" sz="1200" dirty="0">
                <a:solidFill>
                  <a:srgbClr val="0891B2"/>
                </a:solidFill>
                <a:latin typeface="Calibri" pitchFamily="34" charset="0"/>
                <a:ea typeface="Calibri" pitchFamily="34" charset="-122"/>
                <a:cs typeface="Calibri" pitchFamily="34" charset="-120"/>
              </a:rPr>
              <a:t>Cursor writes React for you — you just need to know it builds apps from snap-together pieces.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200" b="1" dirty="0">
                <a:solidFill>
                  <a:srgbClr val="1E293B"/>
                </a:solidFill>
                <a:latin typeface="Trebuchet MS" pitchFamily="34" charset="0"/>
                <a:ea typeface="Trebuchet MS" pitchFamily="34" charset="-122"/>
                <a:cs typeface="Trebuchet MS" pitchFamily="34" charset="-120"/>
              </a:rPr>
              <a:t>React, Node.js, and </a:t>
            </a:r>
            <a:r>
              <a:rPr lang="en-US" sz="3200" b="1" dirty="0" err="1">
                <a:solidFill>
                  <a:srgbClr val="1E293B"/>
                </a:solidFill>
                <a:latin typeface="Trebuchet MS" pitchFamily="34" charset="0"/>
                <a:ea typeface="Trebuchet MS" pitchFamily="34" charset="-122"/>
                <a:cs typeface="Trebuchet MS" pitchFamily="34" charset="-120"/>
              </a:rPr>
              <a:t>Next.js</a:t>
            </a:r>
            <a:r>
              <a:rPr lang="en-US" sz="3200" b="1" dirty="0">
                <a:solidFill>
                  <a:srgbClr val="1E293B"/>
                </a:solidFill>
                <a:latin typeface="Trebuchet MS" pitchFamily="34" charset="0"/>
                <a:ea typeface="Trebuchet MS" pitchFamily="34" charset="-122"/>
                <a:cs typeface="Trebuchet MS" pitchFamily="34" charset="-120"/>
              </a:rPr>
              <a:t> (JavaScript)</a:t>
            </a:r>
            <a:endParaRPr lang="en-US" sz="3200" dirty="0"/>
          </a:p>
        </p:txBody>
      </p:sp>
      <p:sp>
        <p:nvSpPr>
          <p:cNvPr id="3" name="Text 1"/>
          <p:cNvSpPr/>
          <p:nvPr/>
        </p:nvSpPr>
        <p:spPr>
          <a:xfrm>
            <a:off x="548640" y="777240"/>
            <a:ext cx="8046720" cy="32004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Three names you'll hear together — they're layers, not alternatives.</a:t>
            </a:r>
            <a:endParaRPr lang="en-US" sz="1400" dirty="0"/>
          </a:p>
        </p:txBody>
      </p:sp>
      <p:sp>
        <p:nvSpPr>
          <p:cNvPr id="4" name="Shape 2"/>
          <p:cNvSpPr/>
          <p:nvPr/>
        </p:nvSpPr>
        <p:spPr>
          <a:xfrm>
            <a:off x="1371600" y="3520440"/>
            <a:ext cx="4937760" cy="914400"/>
          </a:xfrm>
          <a:prstGeom prst="roundRect">
            <a:avLst>
              <a:gd name="adj" fmla="val 12000"/>
            </a:avLst>
          </a:prstGeom>
          <a:solidFill>
            <a:srgbClr val="0E4429"/>
          </a:solidFill>
          <a:ln/>
        </p:spPr>
        <p:txBody>
          <a:bodyPr/>
          <a:lstStyle/>
          <a:p>
            <a:endParaRPr lang="en-US"/>
          </a:p>
        </p:txBody>
      </p:sp>
      <p:sp>
        <p:nvSpPr>
          <p:cNvPr id="5" name="Text 3"/>
          <p:cNvSpPr/>
          <p:nvPr/>
        </p:nvSpPr>
        <p:spPr>
          <a:xfrm>
            <a:off x="2103120" y="3611880"/>
            <a:ext cx="1828800" cy="365760"/>
          </a:xfrm>
          <a:prstGeom prst="rect">
            <a:avLst/>
          </a:prstGeom>
          <a:noFill/>
          <a:ln/>
        </p:spPr>
        <p:txBody>
          <a:bodyPr wrap="square" lIns="0" tIns="0" rIns="0" bIns="0" rtlCol="0" anchor="ctr"/>
          <a:lstStyle/>
          <a:p>
            <a:pPr marL="0" indent="0">
              <a:buNone/>
            </a:pPr>
            <a:r>
              <a:rPr lang="en-US" sz="1800" b="1" dirty="0">
                <a:solidFill>
                  <a:srgbClr val="FFFFFF"/>
                </a:solidFill>
                <a:latin typeface="Trebuchet MS" pitchFamily="34" charset="0"/>
                <a:ea typeface="Trebuchet MS" pitchFamily="34" charset="-122"/>
                <a:cs typeface="Trebuchet MS" pitchFamily="34" charset="-120"/>
              </a:rPr>
              <a:t>Node.js</a:t>
            </a:r>
            <a:endParaRPr lang="en-US" sz="1800" dirty="0"/>
          </a:p>
        </p:txBody>
      </p:sp>
      <p:sp>
        <p:nvSpPr>
          <p:cNvPr id="6" name="Text 4"/>
          <p:cNvSpPr/>
          <p:nvPr/>
        </p:nvSpPr>
        <p:spPr>
          <a:xfrm>
            <a:off x="2103120" y="3977640"/>
            <a:ext cx="3291840" cy="320040"/>
          </a:xfrm>
          <a:prstGeom prst="rect">
            <a:avLst/>
          </a:prstGeom>
          <a:noFill/>
          <a:ln/>
        </p:spPr>
        <p:txBody>
          <a:bodyPr wrap="square" lIns="0" tIns="0" rIns="0" bIns="0" rtlCol="0" anchor="t"/>
          <a:lstStyle/>
          <a:p>
            <a:pPr marL="0" indent="0">
              <a:buNone/>
            </a:pPr>
            <a:r>
              <a:rPr lang="en-US" sz="1100" dirty="0">
                <a:solidFill>
                  <a:srgbClr val="86EFAC"/>
                </a:solidFill>
                <a:latin typeface="Calibri" pitchFamily="34" charset="0"/>
                <a:ea typeface="Calibri" pitchFamily="34" charset="-122"/>
                <a:cs typeface="Calibri" pitchFamily="34" charset="-120"/>
              </a:rPr>
              <a:t>The engine — runs JavaScript outside the browser</a:t>
            </a:r>
            <a:endParaRPr lang="en-US" sz="1100" dirty="0"/>
          </a:p>
        </p:txBody>
      </p:sp>
      <p:pic>
        <p:nvPicPr>
          <p:cNvPr id="7" name="Image 0" descr="preencoded.png"/>
          <p:cNvPicPr>
            <a:picLocks noChangeAspect="1"/>
          </p:cNvPicPr>
          <p:nvPr/>
        </p:nvPicPr>
        <p:blipFill>
          <a:blip r:embed="rId3"/>
          <a:stretch>
            <a:fillRect/>
          </a:stretch>
        </p:blipFill>
        <p:spPr>
          <a:xfrm>
            <a:off x="1600200" y="3776472"/>
            <a:ext cx="411480" cy="411480"/>
          </a:xfrm>
          <a:prstGeom prst="rect">
            <a:avLst/>
          </a:prstGeom>
        </p:spPr>
      </p:pic>
      <p:sp>
        <p:nvSpPr>
          <p:cNvPr id="8" name="Shape 5"/>
          <p:cNvSpPr/>
          <p:nvPr/>
        </p:nvSpPr>
        <p:spPr>
          <a:xfrm>
            <a:off x="1828800" y="2468880"/>
            <a:ext cx="4023360" cy="914400"/>
          </a:xfrm>
          <a:prstGeom prst="roundRect">
            <a:avLst>
              <a:gd name="adj" fmla="val 12000"/>
            </a:avLst>
          </a:prstGeom>
          <a:solidFill>
            <a:srgbClr val="0C4A6E"/>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2057400" y="2724912"/>
            <a:ext cx="411480" cy="411480"/>
          </a:xfrm>
          <a:prstGeom prst="rect">
            <a:avLst/>
          </a:prstGeom>
        </p:spPr>
      </p:pic>
      <p:sp>
        <p:nvSpPr>
          <p:cNvPr id="10" name="Text 6"/>
          <p:cNvSpPr/>
          <p:nvPr/>
        </p:nvSpPr>
        <p:spPr>
          <a:xfrm>
            <a:off x="2560320" y="2560320"/>
            <a:ext cx="1828800" cy="365760"/>
          </a:xfrm>
          <a:prstGeom prst="rect">
            <a:avLst/>
          </a:prstGeom>
          <a:noFill/>
          <a:ln/>
        </p:spPr>
        <p:txBody>
          <a:bodyPr wrap="square" lIns="0" tIns="0" rIns="0" bIns="0" rtlCol="0" anchor="ctr"/>
          <a:lstStyle/>
          <a:p>
            <a:pPr marL="0" indent="0">
              <a:buNone/>
            </a:pPr>
            <a:r>
              <a:rPr lang="en-US" sz="1800" b="1" dirty="0">
                <a:solidFill>
                  <a:srgbClr val="FFFFFF"/>
                </a:solidFill>
                <a:latin typeface="Trebuchet MS" pitchFamily="34" charset="0"/>
                <a:ea typeface="Trebuchet MS" pitchFamily="34" charset="-122"/>
                <a:cs typeface="Trebuchet MS" pitchFamily="34" charset="-120"/>
              </a:rPr>
              <a:t>React</a:t>
            </a:r>
            <a:endParaRPr lang="en-US" sz="1800" dirty="0"/>
          </a:p>
        </p:txBody>
      </p:sp>
      <p:sp>
        <p:nvSpPr>
          <p:cNvPr id="11" name="Text 7"/>
          <p:cNvSpPr/>
          <p:nvPr/>
        </p:nvSpPr>
        <p:spPr>
          <a:xfrm>
            <a:off x="2560320" y="2926080"/>
            <a:ext cx="2926080" cy="320040"/>
          </a:xfrm>
          <a:prstGeom prst="rect">
            <a:avLst/>
          </a:prstGeom>
          <a:noFill/>
          <a:ln/>
        </p:spPr>
        <p:txBody>
          <a:bodyPr wrap="square" lIns="0" tIns="0" rIns="0" bIns="0" rtlCol="0" anchor="t"/>
          <a:lstStyle/>
          <a:p>
            <a:pPr marL="0" indent="0">
              <a:buNone/>
            </a:pPr>
            <a:r>
              <a:rPr lang="en-US" sz="1100" dirty="0">
                <a:solidFill>
                  <a:srgbClr val="7DD3FC"/>
                </a:solidFill>
                <a:latin typeface="Calibri" pitchFamily="34" charset="0"/>
                <a:ea typeface="Calibri" pitchFamily="34" charset="-122"/>
                <a:cs typeface="Calibri" pitchFamily="34" charset="-120"/>
              </a:rPr>
              <a:t>The library — builds UI from components</a:t>
            </a:r>
            <a:endParaRPr lang="en-US" sz="1100" dirty="0"/>
          </a:p>
        </p:txBody>
      </p:sp>
      <p:sp>
        <p:nvSpPr>
          <p:cNvPr id="12" name="Shape 8"/>
          <p:cNvSpPr/>
          <p:nvPr/>
        </p:nvSpPr>
        <p:spPr>
          <a:xfrm>
            <a:off x="2286000" y="1417320"/>
            <a:ext cx="3108960" cy="914400"/>
          </a:xfrm>
          <a:prstGeom prst="roundRect">
            <a:avLst>
              <a:gd name="adj" fmla="val 12000"/>
            </a:avLst>
          </a:prstGeom>
          <a:solidFill>
            <a:srgbClr val="0F172A"/>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2514600" y="1673352"/>
            <a:ext cx="411480" cy="411480"/>
          </a:xfrm>
          <a:prstGeom prst="rect">
            <a:avLst/>
          </a:prstGeom>
        </p:spPr>
      </p:pic>
      <p:sp>
        <p:nvSpPr>
          <p:cNvPr id="14" name="Text 9"/>
          <p:cNvSpPr/>
          <p:nvPr/>
        </p:nvSpPr>
        <p:spPr>
          <a:xfrm>
            <a:off x="3017520" y="1508760"/>
            <a:ext cx="1828800" cy="365760"/>
          </a:xfrm>
          <a:prstGeom prst="rect">
            <a:avLst/>
          </a:prstGeom>
          <a:noFill/>
          <a:ln/>
        </p:spPr>
        <p:txBody>
          <a:bodyPr wrap="square" lIns="0" tIns="0" rIns="0" bIns="0" rtlCol="0" anchor="ctr"/>
          <a:lstStyle/>
          <a:p>
            <a:pPr marL="0" indent="0">
              <a:buNone/>
            </a:pPr>
            <a:r>
              <a:rPr lang="en-US" sz="1800" b="1" dirty="0">
                <a:solidFill>
                  <a:srgbClr val="FFFFFF"/>
                </a:solidFill>
                <a:latin typeface="Trebuchet MS" pitchFamily="34" charset="0"/>
                <a:ea typeface="Trebuchet MS" pitchFamily="34" charset="-122"/>
                <a:cs typeface="Trebuchet MS" pitchFamily="34" charset="-120"/>
              </a:rPr>
              <a:t>Next.js</a:t>
            </a:r>
            <a:endParaRPr lang="en-US" sz="1800" dirty="0"/>
          </a:p>
        </p:txBody>
      </p:sp>
      <p:sp>
        <p:nvSpPr>
          <p:cNvPr id="15" name="Text 10"/>
          <p:cNvSpPr/>
          <p:nvPr/>
        </p:nvSpPr>
        <p:spPr>
          <a:xfrm>
            <a:off x="3017520" y="1874520"/>
            <a:ext cx="2103120" cy="320040"/>
          </a:xfrm>
          <a:prstGeom prst="rect">
            <a:avLst/>
          </a:prstGeom>
          <a:noFill/>
          <a:ln/>
        </p:spPr>
        <p:txBody>
          <a:bodyPr wrap="square" lIns="0" tIns="0" rIns="0" bIns="0" rtlCol="0" anchor="t"/>
          <a:lstStyle/>
          <a:p>
            <a:pPr marL="0" indent="0">
              <a:buNone/>
            </a:pPr>
            <a:r>
              <a:rPr lang="en-US" sz="1100" dirty="0">
                <a:solidFill>
                  <a:srgbClr val="A5B4FC"/>
                </a:solidFill>
                <a:latin typeface="Calibri" pitchFamily="34" charset="0"/>
                <a:ea typeface="Calibri" pitchFamily="34" charset="-122"/>
                <a:cs typeface="Calibri" pitchFamily="34" charset="-120"/>
              </a:rPr>
              <a:t>The framework — adds routing, deployment, etc.</a:t>
            </a:r>
            <a:endParaRPr lang="en-US" sz="1100" dirty="0"/>
          </a:p>
        </p:txBody>
      </p:sp>
      <p:sp>
        <p:nvSpPr>
          <p:cNvPr id="16" name="Text 11"/>
          <p:cNvSpPr/>
          <p:nvPr/>
        </p:nvSpPr>
        <p:spPr>
          <a:xfrm>
            <a:off x="1645920" y="3291840"/>
            <a:ext cx="1097280" cy="2286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builds on ↑</a:t>
            </a:r>
            <a:endParaRPr lang="en-US" sz="900" dirty="0"/>
          </a:p>
        </p:txBody>
      </p:sp>
      <p:sp>
        <p:nvSpPr>
          <p:cNvPr id="17" name="Text 12"/>
          <p:cNvSpPr/>
          <p:nvPr/>
        </p:nvSpPr>
        <p:spPr>
          <a:xfrm>
            <a:off x="2103120" y="2240280"/>
            <a:ext cx="1097280" cy="2286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builds on ↑</a:t>
            </a:r>
            <a:endParaRPr lang="en-US" sz="900" dirty="0"/>
          </a:p>
        </p:txBody>
      </p:sp>
      <p:sp>
        <p:nvSpPr>
          <p:cNvPr id="18" name="Shape 13"/>
          <p:cNvSpPr/>
          <p:nvPr/>
        </p:nvSpPr>
        <p:spPr>
          <a:xfrm>
            <a:off x="6035040" y="1417320"/>
            <a:ext cx="2743200" cy="3200400"/>
          </a:xfrm>
          <a:prstGeom prst="roundRect">
            <a:avLst>
              <a:gd name="adj" fmla="val 4000"/>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9" name="Text 14"/>
          <p:cNvSpPr/>
          <p:nvPr/>
        </p:nvSpPr>
        <p:spPr>
          <a:xfrm>
            <a:off x="6217920" y="1554480"/>
            <a:ext cx="2377440" cy="320040"/>
          </a:xfrm>
          <a:prstGeom prst="rect">
            <a:avLst/>
          </a:prstGeom>
          <a:noFill/>
          <a:ln/>
        </p:spPr>
        <p:txBody>
          <a:bodyPr wrap="square" lIns="0" tIns="0" rIns="0" bIns="0" rtlCol="0" anchor="ctr"/>
          <a:lstStyle/>
          <a:p>
            <a:pPr marL="0" indent="0">
              <a:buNone/>
            </a:pPr>
            <a:r>
              <a:rPr lang="en-US" sz="1300" b="1" dirty="0">
                <a:solidFill>
                  <a:srgbClr val="0891B2"/>
                </a:solidFill>
                <a:latin typeface="Trebuchet MS" pitchFamily="34" charset="0"/>
                <a:ea typeface="Trebuchet MS" pitchFamily="34" charset="-122"/>
                <a:cs typeface="Trebuchet MS" pitchFamily="34" charset="-120"/>
              </a:rPr>
              <a:t>Think of it as...</a:t>
            </a:r>
            <a:endParaRPr lang="en-US" sz="1300" dirty="0"/>
          </a:p>
        </p:txBody>
      </p:sp>
      <p:sp>
        <p:nvSpPr>
          <p:cNvPr id="20" name="Shape 15"/>
          <p:cNvSpPr/>
          <p:nvPr/>
        </p:nvSpPr>
        <p:spPr>
          <a:xfrm>
            <a:off x="6263640" y="2011680"/>
            <a:ext cx="457200" cy="457200"/>
          </a:xfrm>
          <a:prstGeom prst="ellipse">
            <a:avLst/>
          </a:prstGeom>
          <a:solidFill>
            <a:srgbClr val="ECFEFF"/>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6355080" y="2103120"/>
            <a:ext cx="274320" cy="274320"/>
          </a:xfrm>
          <a:prstGeom prst="rect">
            <a:avLst/>
          </a:prstGeom>
        </p:spPr>
      </p:pic>
      <p:sp>
        <p:nvSpPr>
          <p:cNvPr id="22" name="Text 16"/>
          <p:cNvSpPr/>
          <p:nvPr/>
        </p:nvSpPr>
        <p:spPr>
          <a:xfrm>
            <a:off x="6858000" y="2011680"/>
            <a:ext cx="164592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Node.js</a:t>
            </a:r>
            <a:endParaRPr lang="en-US" sz="1200" dirty="0"/>
          </a:p>
        </p:txBody>
      </p:sp>
      <p:sp>
        <p:nvSpPr>
          <p:cNvPr id="23" name="Text 17"/>
          <p:cNvSpPr/>
          <p:nvPr/>
        </p:nvSpPr>
        <p:spPr>
          <a:xfrm>
            <a:off x="6858000" y="2267712"/>
            <a:ext cx="1645920" cy="201168"/>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is the engine</a:t>
            </a:r>
            <a:endParaRPr lang="en-US" sz="1100" dirty="0"/>
          </a:p>
        </p:txBody>
      </p:sp>
      <p:sp>
        <p:nvSpPr>
          <p:cNvPr id="24" name="Shape 18"/>
          <p:cNvSpPr/>
          <p:nvPr/>
        </p:nvSpPr>
        <p:spPr>
          <a:xfrm>
            <a:off x="6263640" y="2834640"/>
            <a:ext cx="457200" cy="457200"/>
          </a:xfrm>
          <a:prstGeom prst="ellipse">
            <a:avLst/>
          </a:prstGeom>
          <a:solidFill>
            <a:srgbClr val="ECFEFF"/>
          </a:solidFill>
          <a:ln/>
        </p:spPr>
        <p:txBody>
          <a:bodyPr/>
          <a:lstStyle/>
          <a:p>
            <a:endParaRPr lang="en-US"/>
          </a:p>
        </p:txBody>
      </p:sp>
      <p:pic>
        <p:nvPicPr>
          <p:cNvPr id="25" name="Image 4" descr="preencoded.png"/>
          <p:cNvPicPr>
            <a:picLocks noChangeAspect="1"/>
          </p:cNvPicPr>
          <p:nvPr/>
        </p:nvPicPr>
        <p:blipFill>
          <a:blip r:embed="rId7"/>
          <a:stretch>
            <a:fillRect/>
          </a:stretch>
        </p:blipFill>
        <p:spPr>
          <a:xfrm>
            <a:off x="6355080" y="2926080"/>
            <a:ext cx="274320" cy="274320"/>
          </a:xfrm>
          <a:prstGeom prst="rect">
            <a:avLst/>
          </a:prstGeom>
        </p:spPr>
      </p:pic>
      <p:sp>
        <p:nvSpPr>
          <p:cNvPr id="26" name="Text 19"/>
          <p:cNvSpPr/>
          <p:nvPr/>
        </p:nvSpPr>
        <p:spPr>
          <a:xfrm>
            <a:off x="6858000" y="2834640"/>
            <a:ext cx="164592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React</a:t>
            </a:r>
            <a:endParaRPr lang="en-US" sz="1200" dirty="0"/>
          </a:p>
        </p:txBody>
      </p:sp>
      <p:sp>
        <p:nvSpPr>
          <p:cNvPr id="27" name="Text 20"/>
          <p:cNvSpPr/>
          <p:nvPr/>
        </p:nvSpPr>
        <p:spPr>
          <a:xfrm>
            <a:off x="6858000" y="3090672"/>
            <a:ext cx="1645920" cy="201168"/>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is the steering wheel</a:t>
            </a:r>
            <a:endParaRPr lang="en-US" sz="1100" dirty="0"/>
          </a:p>
        </p:txBody>
      </p:sp>
      <p:sp>
        <p:nvSpPr>
          <p:cNvPr id="28" name="Shape 21"/>
          <p:cNvSpPr/>
          <p:nvPr/>
        </p:nvSpPr>
        <p:spPr>
          <a:xfrm>
            <a:off x="6263640" y="3657600"/>
            <a:ext cx="457200" cy="457200"/>
          </a:xfrm>
          <a:prstGeom prst="ellipse">
            <a:avLst/>
          </a:prstGeom>
          <a:solidFill>
            <a:srgbClr val="ECFEFF"/>
          </a:solidFill>
          <a:ln/>
        </p:spPr>
        <p:txBody>
          <a:bodyPr/>
          <a:lstStyle/>
          <a:p>
            <a:endParaRPr lang="en-US"/>
          </a:p>
        </p:txBody>
      </p:sp>
      <p:pic>
        <p:nvPicPr>
          <p:cNvPr id="29" name="Image 5" descr="preencoded.png"/>
          <p:cNvPicPr>
            <a:picLocks noChangeAspect="1"/>
          </p:cNvPicPr>
          <p:nvPr/>
        </p:nvPicPr>
        <p:blipFill>
          <a:blip r:embed="rId8"/>
          <a:stretch>
            <a:fillRect/>
          </a:stretch>
        </p:blipFill>
        <p:spPr>
          <a:xfrm>
            <a:off x="6355080" y="3749040"/>
            <a:ext cx="274320" cy="274320"/>
          </a:xfrm>
          <a:prstGeom prst="rect">
            <a:avLst/>
          </a:prstGeom>
        </p:spPr>
      </p:pic>
      <p:sp>
        <p:nvSpPr>
          <p:cNvPr id="30" name="Text 22"/>
          <p:cNvSpPr/>
          <p:nvPr/>
        </p:nvSpPr>
        <p:spPr>
          <a:xfrm>
            <a:off x="6858000" y="3657600"/>
            <a:ext cx="164592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Next.js</a:t>
            </a:r>
            <a:endParaRPr lang="en-US" sz="1200" dirty="0"/>
          </a:p>
        </p:txBody>
      </p:sp>
      <p:sp>
        <p:nvSpPr>
          <p:cNvPr id="31" name="Text 23"/>
          <p:cNvSpPr/>
          <p:nvPr/>
        </p:nvSpPr>
        <p:spPr>
          <a:xfrm>
            <a:off x="6858000" y="3913632"/>
            <a:ext cx="1645920" cy="201168"/>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is the whole car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14" name="Shape 10"/>
          <p:cNvSpPr/>
          <p:nvPr/>
        </p:nvSpPr>
        <p:spPr>
          <a:xfrm>
            <a:off x="4206240" y="2804314"/>
            <a:ext cx="2377440" cy="1005840"/>
          </a:xfrm>
          <a:prstGeom prst="roundRect">
            <a:avLst>
              <a:gd name="adj" fmla="val 9091"/>
            </a:avLst>
          </a:prstGeom>
          <a:solidFill>
            <a:srgbClr val="1E293B"/>
          </a:solidFill>
          <a:ln w="19050">
            <a:solidFill>
              <a:srgbClr val="10B981"/>
            </a:solidFill>
            <a:prstDash val="solid"/>
          </a:ln>
        </p:spPr>
        <p:txBody>
          <a:bodyPr/>
          <a:lstStyle/>
          <a:p>
            <a:endParaRPr lang="en-US"/>
          </a:p>
        </p:txBody>
      </p:sp>
      <p:sp>
        <p:nvSpPr>
          <p:cNvPr id="2" name="Text 0"/>
          <p:cNvSpPr/>
          <p:nvPr/>
        </p:nvSpPr>
        <p:spPr>
          <a:xfrm>
            <a:off x="548640" y="228600"/>
            <a:ext cx="8046720" cy="50292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How Data Flows</a:t>
            </a:r>
            <a:endParaRPr lang="en-US" sz="3200" dirty="0"/>
          </a:p>
        </p:txBody>
      </p:sp>
      <p:sp>
        <p:nvSpPr>
          <p:cNvPr id="3" name="Text 1"/>
          <p:cNvSpPr/>
          <p:nvPr/>
        </p:nvSpPr>
        <p:spPr>
          <a:xfrm>
            <a:off x="548640" y="685800"/>
            <a:ext cx="8046720" cy="274320"/>
          </a:xfrm>
          <a:prstGeom prst="rect">
            <a:avLst/>
          </a:prstGeom>
          <a:noFill/>
          <a:ln/>
        </p:spPr>
        <p:txBody>
          <a:bodyPr wrap="square" lIns="0" tIns="0" rIns="0" bIns="0" rtlCol="0" anchor="ctr"/>
          <a:lstStyle/>
          <a:p>
            <a:pPr marL="0" indent="0">
              <a:buNone/>
            </a:pPr>
            <a:r>
              <a:rPr lang="en-US" sz="1300" dirty="0">
                <a:solidFill>
                  <a:srgbClr val="22D3EE"/>
                </a:solidFill>
                <a:latin typeface="Calibri" pitchFamily="34" charset="0"/>
                <a:ea typeface="Calibri" pitchFamily="34" charset="-122"/>
                <a:cs typeface="Calibri" pitchFamily="34" charset="-120"/>
              </a:rPr>
              <a:t>The lifecycle of a single user action</a:t>
            </a:r>
            <a:endParaRPr lang="en-US" sz="1300" dirty="0"/>
          </a:p>
        </p:txBody>
      </p:sp>
      <p:sp>
        <p:nvSpPr>
          <p:cNvPr id="4" name="Shape 2"/>
          <p:cNvSpPr/>
          <p:nvPr/>
        </p:nvSpPr>
        <p:spPr>
          <a:xfrm>
            <a:off x="914400" y="1280160"/>
            <a:ext cx="2377440" cy="1005840"/>
          </a:xfrm>
          <a:prstGeom prst="roundRect">
            <a:avLst>
              <a:gd name="adj" fmla="val 9091"/>
            </a:avLst>
          </a:prstGeom>
          <a:solidFill>
            <a:srgbClr val="1E293B"/>
          </a:solidFill>
          <a:ln w="19050">
            <a:solidFill>
              <a:srgbClr val="0891B2"/>
            </a:solidFill>
            <a:prstDash val="solid"/>
          </a:ln>
        </p:spPr>
        <p:txBody>
          <a:bodyPr/>
          <a:lstStyle/>
          <a:p>
            <a:endParaRPr lang="en-US"/>
          </a:p>
        </p:txBody>
      </p:sp>
      <p:sp>
        <p:nvSpPr>
          <p:cNvPr id="5" name="Shape 3"/>
          <p:cNvSpPr/>
          <p:nvPr/>
        </p:nvSpPr>
        <p:spPr>
          <a:xfrm>
            <a:off x="1051560" y="1554480"/>
            <a:ext cx="457200" cy="457200"/>
          </a:xfrm>
          <a:prstGeom prst="ellipse">
            <a:avLst/>
          </a:prstGeom>
          <a:solidFill>
            <a:srgbClr val="0891B2"/>
          </a:solidFill>
          <a:ln/>
        </p:spPr>
        <p:txBody>
          <a:bodyPr/>
          <a:lstStyle/>
          <a:p>
            <a:endParaRPr lang="en-US"/>
          </a:p>
        </p:txBody>
      </p:sp>
      <p:sp>
        <p:nvSpPr>
          <p:cNvPr id="6" name="Text 4"/>
          <p:cNvSpPr/>
          <p:nvPr/>
        </p:nvSpPr>
        <p:spPr>
          <a:xfrm>
            <a:off x="1051560" y="1554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1</a:t>
            </a:r>
            <a:endParaRPr lang="en-US" sz="1600" dirty="0"/>
          </a:p>
        </p:txBody>
      </p:sp>
      <p:pic>
        <p:nvPicPr>
          <p:cNvPr id="7" name="Image 0" descr="preencoded.png"/>
          <p:cNvPicPr>
            <a:picLocks noChangeAspect="1"/>
          </p:cNvPicPr>
          <p:nvPr/>
        </p:nvPicPr>
        <p:blipFill>
          <a:blip r:embed="rId3"/>
          <a:stretch>
            <a:fillRect/>
          </a:stretch>
        </p:blipFill>
        <p:spPr>
          <a:xfrm>
            <a:off x="1600200" y="1600200"/>
            <a:ext cx="365760" cy="365760"/>
          </a:xfrm>
          <a:prstGeom prst="rect">
            <a:avLst/>
          </a:prstGeom>
        </p:spPr>
      </p:pic>
      <p:sp>
        <p:nvSpPr>
          <p:cNvPr id="8" name="Text 5"/>
          <p:cNvSpPr/>
          <p:nvPr/>
        </p:nvSpPr>
        <p:spPr>
          <a:xfrm>
            <a:off x="2011680" y="1371600"/>
            <a:ext cx="1188720" cy="8229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User clicks</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"Add Expense”</a:t>
            </a:r>
          </a:p>
          <a:p>
            <a:pPr marL="0" indent="0">
              <a:buNone/>
            </a:pPr>
            <a:r>
              <a:rPr lang="en-US" sz="1100" dirty="0">
                <a:solidFill>
                  <a:srgbClr val="FFFFFF"/>
                </a:solidFill>
                <a:latin typeface="Calibri" pitchFamily="34" charset="0"/>
                <a:cs typeface="Calibri" pitchFamily="34" charset="-120"/>
              </a:rPr>
              <a:t>In browser</a:t>
            </a:r>
            <a:endParaRPr lang="en-US" sz="1100" dirty="0"/>
          </a:p>
        </p:txBody>
      </p:sp>
      <p:grpSp>
        <p:nvGrpSpPr>
          <p:cNvPr id="36" name="Group 35">
            <a:extLst>
              <a:ext uri="{FF2B5EF4-FFF2-40B4-BE49-F238E27FC236}">
                <a16:creationId xmlns:a16="http://schemas.microsoft.com/office/drawing/2014/main" id="{E02C1141-9320-A963-AE72-229B6ED9C873}"/>
              </a:ext>
            </a:extLst>
          </p:cNvPr>
          <p:cNvGrpSpPr/>
          <p:nvPr/>
        </p:nvGrpSpPr>
        <p:grpSpPr>
          <a:xfrm>
            <a:off x="4160520" y="1217645"/>
            <a:ext cx="2377440" cy="1005840"/>
            <a:chOff x="4800600" y="1254967"/>
            <a:chExt cx="2377440" cy="1005840"/>
          </a:xfrm>
        </p:grpSpPr>
        <p:sp>
          <p:nvSpPr>
            <p:cNvPr id="9" name="Shape 6"/>
            <p:cNvSpPr/>
            <p:nvPr/>
          </p:nvSpPr>
          <p:spPr>
            <a:xfrm>
              <a:off x="4800600" y="1254967"/>
              <a:ext cx="2377440" cy="1005840"/>
            </a:xfrm>
            <a:prstGeom prst="roundRect">
              <a:avLst>
                <a:gd name="adj" fmla="val 9091"/>
              </a:avLst>
            </a:prstGeom>
            <a:solidFill>
              <a:srgbClr val="1E293B"/>
            </a:solidFill>
            <a:ln w="19050">
              <a:solidFill>
                <a:srgbClr val="06B6D4"/>
              </a:solidFill>
              <a:prstDash val="solid"/>
            </a:ln>
          </p:spPr>
          <p:txBody>
            <a:bodyPr/>
            <a:lstStyle/>
            <a:p>
              <a:endParaRPr lang="en-US"/>
            </a:p>
          </p:txBody>
        </p:sp>
        <p:sp>
          <p:nvSpPr>
            <p:cNvPr id="10" name="Shape 7"/>
            <p:cNvSpPr/>
            <p:nvPr/>
          </p:nvSpPr>
          <p:spPr>
            <a:xfrm>
              <a:off x="4892040" y="1554480"/>
              <a:ext cx="457200" cy="457200"/>
            </a:xfrm>
            <a:prstGeom prst="ellipse">
              <a:avLst/>
            </a:prstGeom>
            <a:solidFill>
              <a:srgbClr val="06B6D4"/>
            </a:solidFill>
            <a:ln/>
          </p:spPr>
          <p:txBody>
            <a:bodyPr/>
            <a:lstStyle/>
            <a:p>
              <a:endParaRPr lang="en-US"/>
            </a:p>
          </p:txBody>
        </p:sp>
        <p:sp>
          <p:nvSpPr>
            <p:cNvPr id="11" name="Text 8"/>
            <p:cNvSpPr/>
            <p:nvPr/>
          </p:nvSpPr>
          <p:spPr>
            <a:xfrm>
              <a:off x="4892040" y="1554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2</a:t>
              </a:r>
              <a:endParaRPr lang="en-US" sz="1600" dirty="0"/>
            </a:p>
          </p:txBody>
        </p:sp>
        <p:pic>
          <p:nvPicPr>
            <p:cNvPr id="12" name="Image 1" descr="preencoded.png"/>
            <p:cNvPicPr>
              <a:picLocks noChangeAspect="1"/>
            </p:cNvPicPr>
            <p:nvPr/>
          </p:nvPicPr>
          <p:blipFill>
            <a:blip r:embed="rId4"/>
            <a:stretch>
              <a:fillRect/>
            </a:stretch>
          </p:blipFill>
          <p:spPr>
            <a:xfrm>
              <a:off x="5440680" y="1600200"/>
              <a:ext cx="365760" cy="365760"/>
            </a:xfrm>
            <a:prstGeom prst="rect">
              <a:avLst/>
            </a:prstGeom>
          </p:spPr>
        </p:pic>
        <p:sp>
          <p:nvSpPr>
            <p:cNvPr id="13" name="Text 9"/>
            <p:cNvSpPr/>
            <p:nvPr/>
          </p:nvSpPr>
          <p:spPr>
            <a:xfrm>
              <a:off x="5852160" y="1371600"/>
              <a:ext cx="1188720" cy="8229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React sends data</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to InstantDB</a:t>
              </a:r>
              <a:endParaRPr lang="en-US" sz="1100" dirty="0"/>
            </a:p>
          </p:txBody>
        </p:sp>
      </p:grpSp>
      <p:grpSp>
        <p:nvGrpSpPr>
          <p:cNvPr id="38" name="Group 37">
            <a:extLst>
              <a:ext uri="{FF2B5EF4-FFF2-40B4-BE49-F238E27FC236}">
                <a16:creationId xmlns:a16="http://schemas.microsoft.com/office/drawing/2014/main" id="{09E65BBF-AE8B-9E38-8E02-F6BD8646A016}"/>
              </a:ext>
            </a:extLst>
          </p:cNvPr>
          <p:cNvGrpSpPr/>
          <p:nvPr/>
        </p:nvGrpSpPr>
        <p:grpSpPr>
          <a:xfrm>
            <a:off x="914400" y="2933077"/>
            <a:ext cx="2377440" cy="1005840"/>
            <a:chOff x="4754880" y="3749040"/>
            <a:chExt cx="2377440" cy="1005840"/>
          </a:xfrm>
        </p:grpSpPr>
        <p:sp>
          <p:nvSpPr>
            <p:cNvPr id="19" name="Shape 14"/>
            <p:cNvSpPr/>
            <p:nvPr/>
          </p:nvSpPr>
          <p:spPr>
            <a:xfrm>
              <a:off x="4754880" y="3749040"/>
              <a:ext cx="2377440" cy="1005840"/>
            </a:xfrm>
            <a:prstGeom prst="roundRect">
              <a:avLst>
                <a:gd name="adj" fmla="val 9091"/>
              </a:avLst>
            </a:prstGeom>
            <a:solidFill>
              <a:srgbClr val="1E293B"/>
            </a:solidFill>
            <a:ln w="19050">
              <a:solidFill>
                <a:srgbClr val="0E7490"/>
              </a:solidFill>
              <a:prstDash val="solid"/>
            </a:ln>
          </p:spPr>
          <p:txBody>
            <a:bodyPr/>
            <a:lstStyle/>
            <a:p>
              <a:endParaRPr lang="en-US"/>
            </a:p>
          </p:txBody>
        </p:sp>
        <p:sp>
          <p:nvSpPr>
            <p:cNvPr id="20" name="Shape 15"/>
            <p:cNvSpPr/>
            <p:nvPr/>
          </p:nvSpPr>
          <p:spPr>
            <a:xfrm>
              <a:off x="4892040" y="4023360"/>
              <a:ext cx="457200" cy="457200"/>
            </a:xfrm>
            <a:prstGeom prst="ellipse">
              <a:avLst/>
            </a:prstGeom>
            <a:solidFill>
              <a:srgbClr val="0E7490"/>
            </a:solidFill>
            <a:ln/>
          </p:spPr>
          <p:txBody>
            <a:bodyPr/>
            <a:lstStyle/>
            <a:p>
              <a:endParaRPr lang="en-US"/>
            </a:p>
          </p:txBody>
        </p:sp>
        <p:pic>
          <p:nvPicPr>
            <p:cNvPr id="22" name="Image 3" descr="preencoded.png"/>
            <p:cNvPicPr>
              <a:picLocks noChangeAspect="1"/>
            </p:cNvPicPr>
            <p:nvPr/>
          </p:nvPicPr>
          <p:blipFill>
            <a:blip r:embed="rId5"/>
            <a:stretch>
              <a:fillRect/>
            </a:stretch>
          </p:blipFill>
          <p:spPr>
            <a:xfrm>
              <a:off x="5440680" y="4069080"/>
              <a:ext cx="365760" cy="365760"/>
            </a:xfrm>
            <a:prstGeom prst="rect">
              <a:avLst/>
            </a:prstGeom>
          </p:spPr>
        </p:pic>
        <p:sp>
          <p:nvSpPr>
            <p:cNvPr id="23" name="Text 17"/>
            <p:cNvSpPr/>
            <p:nvPr/>
          </p:nvSpPr>
          <p:spPr>
            <a:xfrm>
              <a:off x="5852160" y="3840480"/>
              <a:ext cx="1188720" cy="8229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InstantDB pushes</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update back</a:t>
              </a:r>
              <a:endParaRPr lang="en-US" sz="1100" dirty="0"/>
            </a:p>
          </p:txBody>
        </p:sp>
      </p:grpSp>
      <p:sp>
        <p:nvSpPr>
          <p:cNvPr id="26" name="Text 20"/>
          <p:cNvSpPr/>
          <p:nvPr/>
        </p:nvSpPr>
        <p:spPr>
          <a:xfrm>
            <a:off x="1051560" y="3017520"/>
            <a:ext cx="457200" cy="457200"/>
          </a:xfrm>
          <a:prstGeom prst="rect">
            <a:avLst/>
          </a:prstGeom>
          <a:noFill/>
          <a:ln/>
        </p:spPr>
        <p:txBody>
          <a:bodyPr wrap="square" lIns="0" tIns="0" rIns="0" bIns="0" rtlCol="0" anchor="ctr"/>
          <a:lstStyle/>
          <a:p>
            <a:pPr marL="0" indent="0" algn="ctr">
              <a:buNone/>
            </a:pPr>
            <a:endParaRPr lang="en-US" sz="1600" dirty="0"/>
          </a:p>
        </p:txBody>
      </p:sp>
      <p:sp>
        <p:nvSpPr>
          <p:cNvPr id="29" name="Text 22"/>
          <p:cNvSpPr/>
          <p:nvPr/>
        </p:nvSpPr>
        <p:spPr>
          <a:xfrm>
            <a:off x="3337560" y="1600200"/>
            <a:ext cx="457200" cy="320040"/>
          </a:xfrm>
          <a:prstGeom prst="rect">
            <a:avLst/>
          </a:prstGeom>
          <a:noFill/>
          <a:ln/>
        </p:spPr>
        <p:txBody>
          <a:bodyPr wrap="square" lIns="0" tIns="0" rIns="0" bIns="0" rtlCol="0" anchor="ctr"/>
          <a:lstStyle/>
          <a:p>
            <a:pPr marL="0" indent="0" algn="ctr">
              <a:buNone/>
            </a:pPr>
            <a:r>
              <a:rPr lang="en-US" sz="2000" dirty="0">
                <a:solidFill>
                  <a:srgbClr val="22D3EE"/>
                </a:solidFill>
                <a:latin typeface="Calibri" pitchFamily="34" charset="0"/>
                <a:ea typeface="Calibri" pitchFamily="34" charset="-122"/>
                <a:cs typeface="Calibri" pitchFamily="34" charset="-120"/>
              </a:rPr>
              <a:t>→</a:t>
            </a:r>
            <a:endParaRPr lang="en-US" sz="2000" dirty="0"/>
          </a:p>
        </p:txBody>
      </p:sp>
      <p:sp>
        <p:nvSpPr>
          <p:cNvPr id="30" name="Text 23"/>
          <p:cNvSpPr/>
          <p:nvPr/>
        </p:nvSpPr>
        <p:spPr>
          <a:xfrm>
            <a:off x="6080760" y="2340118"/>
            <a:ext cx="457200" cy="320040"/>
          </a:xfrm>
          <a:prstGeom prst="rect">
            <a:avLst/>
          </a:prstGeom>
          <a:noFill/>
          <a:ln/>
        </p:spPr>
        <p:txBody>
          <a:bodyPr wrap="square" lIns="0" tIns="0" rIns="0" bIns="0" rtlCol="0" anchor="ctr"/>
          <a:lstStyle/>
          <a:p>
            <a:pPr marL="0" indent="0" algn="ctr">
              <a:buNone/>
            </a:pPr>
            <a:r>
              <a:rPr lang="en-US" sz="2000" dirty="0">
                <a:solidFill>
                  <a:srgbClr val="22D3EE"/>
                </a:solidFill>
                <a:latin typeface="Calibri" pitchFamily="34" charset="0"/>
                <a:ea typeface="Calibri" pitchFamily="34" charset="-122"/>
                <a:cs typeface="Calibri" pitchFamily="34" charset="-120"/>
              </a:rPr>
              <a:t>↓</a:t>
            </a:r>
            <a:endParaRPr lang="en-US" sz="2000" dirty="0"/>
          </a:p>
        </p:txBody>
      </p:sp>
      <p:sp>
        <p:nvSpPr>
          <p:cNvPr id="31" name="Text 24"/>
          <p:cNvSpPr/>
          <p:nvPr/>
        </p:nvSpPr>
        <p:spPr>
          <a:xfrm rot="5400000">
            <a:off x="3414537" y="3252183"/>
            <a:ext cx="457200" cy="320040"/>
          </a:xfrm>
          <a:prstGeom prst="rect">
            <a:avLst/>
          </a:prstGeom>
          <a:noFill/>
          <a:ln/>
        </p:spPr>
        <p:txBody>
          <a:bodyPr wrap="square" lIns="0" tIns="0" rIns="0" bIns="0" rtlCol="0" anchor="ctr"/>
          <a:lstStyle/>
          <a:p>
            <a:pPr marL="0" indent="0" algn="ctr">
              <a:buNone/>
            </a:pPr>
            <a:r>
              <a:rPr lang="en-US" sz="2000" dirty="0">
                <a:solidFill>
                  <a:srgbClr val="22D3EE"/>
                </a:solidFill>
                <a:latin typeface="Calibri" pitchFamily="34" charset="0"/>
                <a:ea typeface="Calibri" pitchFamily="34" charset="-122"/>
                <a:cs typeface="Calibri" pitchFamily="34" charset="-120"/>
              </a:rPr>
              <a:t>↓</a:t>
            </a:r>
            <a:endParaRPr lang="en-US" sz="2000" dirty="0"/>
          </a:p>
        </p:txBody>
      </p:sp>
      <p:sp>
        <p:nvSpPr>
          <p:cNvPr id="32" name="Text 25"/>
          <p:cNvSpPr/>
          <p:nvPr/>
        </p:nvSpPr>
        <p:spPr>
          <a:xfrm rot="5400000">
            <a:off x="1783080" y="2393303"/>
            <a:ext cx="457200" cy="320040"/>
          </a:xfrm>
          <a:prstGeom prst="rect">
            <a:avLst/>
          </a:prstGeom>
          <a:noFill/>
          <a:ln/>
        </p:spPr>
        <p:txBody>
          <a:bodyPr wrap="square" lIns="0" tIns="0" rIns="0" bIns="0" rtlCol="0" anchor="ctr"/>
          <a:lstStyle/>
          <a:p>
            <a:pPr marL="0" indent="0" algn="ctr">
              <a:buNone/>
            </a:pPr>
            <a:r>
              <a:rPr lang="en-US" sz="2000" dirty="0">
                <a:solidFill>
                  <a:srgbClr val="22D3EE"/>
                </a:solidFill>
                <a:latin typeface="Calibri" pitchFamily="34" charset="0"/>
                <a:ea typeface="Calibri" pitchFamily="34" charset="-122"/>
                <a:cs typeface="Calibri" pitchFamily="34" charset="-120"/>
              </a:rPr>
              <a:t>←</a:t>
            </a:r>
            <a:endParaRPr lang="en-US" sz="2000" dirty="0"/>
          </a:p>
        </p:txBody>
      </p:sp>
      <p:sp>
        <p:nvSpPr>
          <p:cNvPr id="34" name="Shape 27"/>
          <p:cNvSpPr/>
          <p:nvPr/>
        </p:nvSpPr>
        <p:spPr>
          <a:xfrm>
            <a:off x="1371600" y="4526280"/>
            <a:ext cx="6400800" cy="457200"/>
          </a:xfrm>
          <a:prstGeom prst="roundRect">
            <a:avLst>
              <a:gd name="adj" fmla="val 20000"/>
            </a:avLst>
          </a:prstGeom>
          <a:solidFill>
            <a:srgbClr val="1E293B"/>
          </a:solidFill>
          <a:ln w="12700">
            <a:solidFill>
              <a:srgbClr val="22D3EE"/>
            </a:solidFill>
            <a:prstDash val="solid"/>
          </a:ln>
        </p:spPr>
        <p:txBody>
          <a:bodyPr/>
          <a:lstStyle/>
          <a:p>
            <a:endParaRPr lang="en-US"/>
          </a:p>
        </p:txBody>
      </p:sp>
      <p:sp>
        <p:nvSpPr>
          <p:cNvPr id="35" name="Text 28"/>
          <p:cNvSpPr/>
          <p:nvPr/>
        </p:nvSpPr>
        <p:spPr>
          <a:xfrm>
            <a:off x="1371600" y="4526280"/>
            <a:ext cx="6400800" cy="457200"/>
          </a:xfrm>
          <a:prstGeom prst="rect">
            <a:avLst/>
          </a:prstGeom>
          <a:noFill/>
          <a:ln/>
        </p:spPr>
        <p:txBody>
          <a:bodyPr wrap="square" lIns="0" tIns="0" rIns="0" bIns="0" rtlCol="0" anchor="ctr"/>
          <a:lstStyle/>
          <a:p>
            <a:pPr marL="0" indent="0" algn="ctr">
              <a:buNone/>
            </a:pPr>
            <a:r>
              <a:rPr lang="en-US" sz="1200" dirty="0">
                <a:solidFill>
                  <a:srgbClr val="22D3EE"/>
                </a:solidFill>
                <a:latin typeface="Calibri" pitchFamily="34" charset="0"/>
                <a:ea typeface="Calibri" pitchFamily="34" charset="-122"/>
                <a:cs typeface="Calibri" pitchFamily="34" charset="-120"/>
              </a:rPr>
              <a:t>This loop is what makes your app feel "alive" — data persists and updates in real time.</a:t>
            </a:r>
            <a:endParaRPr lang="en-US" sz="1200" dirty="0"/>
          </a:p>
        </p:txBody>
      </p:sp>
      <p:sp>
        <p:nvSpPr>
          <p:cNvPr id="15" name="Shape 11"/>
          <p:cNvSpPr/>
          <p:nvPr/>
        </p:nvSpPr>
        <p:spPr>
          <a:xfrm>
            <a:off x="4297680" y="3078634"/>
            <a:ext cx="457200" cy="457200"/>
          </a:xfrm>
          <a:prstGeom prst="ellipse">
            <a:avLst/>
          </a:prstGeom>
          <a:solidFill>
            <a:srgbClr val="10B981"/>
          </a:solidFill>
          <a:ln/>
        </p:spPr>
        <p:txBody>
          <a:bodyPr/>
          <a:lstStyle/>
          <a:p>
            <a:endParaRPr lang="en-US"/>
          </a:p>
        </p:txBody>
      </p:sp>
      <p:sp>
        <p:nvSpPr>
          <p:cNvPr id="21" name="Text 16"/>
          <p:cNvSpPr/>
          <p:nvPr/>
        </p:nvSpPr>
        <p:spPr>
          <a:xfrm>
            <a:off x="1043163" y="320459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4</a:t>
            </a:r>
            <a:endParaRPr lang="en-US" sz="1600" dirty="0"/>
          </a:p>
        </p:txBody>
      </p:sp>
      <p:sp>
        <p:nvSpPr>
          <p:cNvPr id="16" name="Text 12"/>
          <p:cNvSpPr/>
          <p:nvPr/>
        </p:nvSpPr>
        <p:spPr>
          <a:xfrm>
            <a:off x="4287414" y="3106627"/>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3</a:t>
            </a:r>
            <a:endParaRPr lang="en-US" sz="1600" dirty="0"/>
          </a:p>
        </p:txBody>
      </p:sp>
      <p:pic>
        <p:nvPicPr>
          <p:cNvPr id="17" name="Image 2" descr="preencoded.png"/>
          <p:cNvPicPr>
            <a:picLocks noChangeAspect="1"/>
          </p:cNvPicPr>
          <p:nvPr/>
        </p:nvPicPr>
        <p:blipFill>
          <a:blip r:embed="rId6"/>
          <a:stretch>
            <a:fillRect/>
          </a:stretch>
        </p:blipFill>
        <p:spPr>
          <a:xfrm>
            <a:off x="4892040" y="3124354"/>
            <a:ext cx="365760" cy="365760"/>
          </a:xfrm>
          <a:prstGeom prst="rect">
            <a:avLst/>
          </a:prstGeom>
        </p:spPr>
      </p:pic>
      <p:sp>
        <p:nvSpPr>
          <p:cNvPr id="18" name="Text 13"/>
          <p:cNvSpPr/>
          <p:nvPr/>
        </p:nvSpPr>
        <p:spPr>
          <a:xfrm>
            <a:off x="5303520" y="2895754"/>
            <a:ext cx="1188720" cy="8229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InstantDB</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Updates database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What Cursor Is Building Right Now</a:t>
            </a:r>
            <a:endParaRPr lang="en-US" sz="3000" dirty="0"/>
          </a:p>
        </p:txBody>
      </p:sp>
      <p:sp>
        <p:nvSpPr>
          <p:cNvPr id="3" name="Text 1"/>
          <p:cNvSpPr/>
          <p:nvPr/>
        </p:nvSpPr>
        <p:spPr>
          <a:xfrm>
            <a:off x="548640" y="777240"/>
            <a:ext cx="8046720" cy="27432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Behind the scenes: the pieces Cursor is generating for you</a:t>
            </a:r>
            <a:endParaRPr lang="en-US" sz="1300" dirty="0"/>
          </a:p>
        </p:txBody>
      </p:sp>
      <p:sp>
        <p:nvSpPr>
          <p:cNvPr id="4" name="Shape 2"/>
          <p:cNvSpPr/>
          <p:nvPr/>
        </p:nvSpPr>
        <p:spPr>
          <a:xfrm>
            <a:off x="502920" y="1371600"/>
            <a:ext cx="2468880" cy="2560320"/>
          </a:xfrm>
          <a:prstGeom prst="roundRect">
            <a:avLst>
              <a:gd name="adj" fmla="val 4444"/>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5" name="Shape 3"/>
          <p:cNvSpPr/>
          <p:nvPr/>
        </p:nvSpPr>
        <p:spPr>
          <a:xfrm>
            <a:off x="502920" y="1371600"/>
            <a:ext cx="2468880" cy="54864"/>
          </a:xfrm>
          <a:prstGeom prst="rect">
            <a:avLst/>
          </a:prstGeom>
          <a:solidFill>
            <a:srgbClr val="0891B2"/>
          </a:solidFill>
          <a:ln/>
        </p:spPr>
        <p:txBody>
          <a:bodyPr/>
          <a:lstStyle/>
          <a:p>
            <a:endParaRPr lang="en-US"/>
          </a:p>
        </p:txBody>
      </p:sp>
      <p:sp>
        <p:nvSpPr>
          <p:cNvPr id="6" name="Shape 4"/>
          <p:cNvSpPr/>
          <p:nvPr/>
        </p:nvSpPr>
        <p:spPr>
          <a:xfrm>
            <a:off x="1417320" y="1645920"/>
            <a:ext cx="640080" cy="640080"/>
          </a:xfrm>
          <a:prstGeom prst="ellipse">
            <a:avLst/>
          </a:prstGeom>
          <a:solidFill>
            <a:srgbClr val="0891B2"/>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554480" y="1783080"/>
            <a:ext cx="365760" cy="365760"/>
          </a:xfrm>
          <a:prstGeom prst="rect">
            <a:avLst/>
          </a:prstGeom>
        </p:spPr>
      </p:pic>
      <p:sp>
        <p:nvSpPr>
          <p:cNvPr id="8" name="Text 5"/>
          <p:cNvSpPr/>
          <p:nvPr/>
        </p:nvSpPr>
        <p:spPr>
          <a:xfrm>
            <a:off x="640080" y="2423160"/>
            <a:ext cx="2194560" cy="502920"/>
          </a:xfrm>
          <a:prstGeom prst="rect">
            <a:avLst/>
          </a:prstGeom>
          <a:noFill/>
          <a:ln/>
        </p:spPr>
        <p:txBody>
          <a:bodyPr wrap="square" lIns="0" tIns="0" rIns="0" bIns="0" rtlCol="0" anchor="ctr"/>
          <a:lstStyle/>
          <a:p>
            <a:pPr marL="0" indent="0" algn="ctr">
              <a:buNone/>
            </a:pPr>
            <a:r>
              <a:rPr lang="en-US" sz="1400" b="1" dirty="0">
                <a:solidFill>
                  <a:srgbClr val="1E293B"/>
                </a:solidFill>
                <a:latin typeface="Trebuchet MS" pitchFamily="34" charset="0"/>
                <a:ea typeface="Trebuchet MS" pitchFamily="34" charset="-122"/>
                <a:cs typeface="Trebuchet MS" pitchFamily="34" charset="-120"/>
              </a:rPr>
              <a:t>Your Pages</a:t>
            </a:r>
            <a:endParaRPr lang="en-US" sz="1400" dirty="0"/>
          </a:p>
          <a:p>
            <a:pPr marL="0" indent="0" algn="ctr">
              <a:buNone/>
            </a:pPr>
            <a:r>
              <a:rPr lang="en-US" sz="1400" b="1" dirty="0">
                <a:solidFill>
                  <a:srgbClr val="1E293B"/>
                </a:solidFill>
                <a:latin typeface="Trebuchet MS" pitchFamily="34" charset="0"/>
                <a:ea typeface="Trebuchet MS" pitchFamily="34" charset="-122"/>
                <a:cs typeface="Trebuchet MS" pitchFamily="34" charset="-120"/>
              </a:rPr>
              <a:t>&amp; Buttons</a:t>
            </a:r>
            <a:endParaRPr lang="en-US" sz="1400" dirty="0"/>
          </a:p>
        </p:txBody>
      </p:sp>
      <p:sp>
        <p:nvSpPr>
          <p:cNvPr id="9" name="Text 6"/>
          <p:cNvSpPr/>
          <p:nvPr/>
        </p:nvSpPr>
        <p:spPr>
          <a:xfrm>
            <a:off x="685800" y="2971800"/>
            <a:ext cx="2103120" cy="914400"/>
          </a:xfrm>
          <a:prstGeom prst="rect">
            <a:avLst/>
          </a:prstGeom>
          <a:noFill/>
          <a:ln/>
        </p:spPr>
        <p:txBody>
          <a:bodyPr wrap="square" lIns="0" tIns="0" rIns="0" bIns="0" rtlCol="0" anchor="t"/>
          <a:lstStyle/>
          <a:p>
            <a:pPr marL="0" indent="0" algn="ctr">
              <a:buNone/>
            </a:pPr>
            <a:r>
              <a:rPr lang="en-US" sz="1100" dirty="0">
                <a:solidFill>
                  <a:srgbClr val="64748B"/>
                </a:solidFill>
                <a:latin typeface="Calibri" pitchFamily="34" charset="0"/>
                <a:ea typeface="Calibri" pitchFamily="34" charset="-122"/>
                <a:cs typeface="Calibri" pitchFamily="34" charset="-120"/>
              </a:rPr>
              <a:t>React components that</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make up the visible</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interface — forms, lists,</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navigation, layout.</a:t>
            </a:r>
            <a:endParaRPr lang="en-US" sz="1100" dirty="0"/>
          </a:p>
        </p:txBody>
      </p:sp>
      <p:sp>
        <p:nvSpPr>
          <p:cNvPr id="10" name="Shape 7"/>
          <p:cNvSpPr/>
          <p:nvPr/>
        </p:nvSpPr>
        <p:spPr>
          <a:xfrm>
            <a:off x="3337560" y="1371600"/>
            <a:ext cx="2468880" cy="2560320"/>
          </a:xfrm>
          <a:prstGeom prst="roundRect">
            <a:avLst>
              <a:gd name="adj" fmla="val 4444"/>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1" name="Shape 8"/>
          <p:cNvSpPr/>
          <p:nvPr/>
        </p:nvSpPr>
        <p:spPr>
          <a:xfrm>
            <a:off x="3337560" y="1371600"/>
            <a:ext cx="2468880" cy="54864"/>
          </a:xfrm>
          <a:prstGeom prst="rect">
            <a:avLst/>
          </a:prstGeom>
          <a:solidFill>
            <a:srgbClr val="06B6D4"/>
          </a:solidFill>
          <a:ln/>
        </p:spPr>
        <p:txBody>
          <a:bodyPr/>
          <a:lstStyle/>
          <a:p>
            <a:endParaRPr lang="en-US"/>
          </a:p>
        </p:txBody>
      </p:sp>
      <p:sp>
        <p:nvSpPr>
          <p:cNvPr id="12" name="Shape 9"/>
          <p:cNvSpPr/>
          <p:nvPr/>
        </p:nvSpPr>
        <p:spPr>
          <a:xfrm>
            <a:off x="4251960" y="1645920"/>
            <a:ext cx="640080" cy="640080"/>
          </a:xfrm>
          <a:prstGeom prst="ellipse">
            <a:avLst/>
          </a:prstGeom>
          <a:solidFill>
            <a:srgbClr val="06B6D4"/>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389120" y="1783080"/>
            <a:ext cx="365760" cy="365760"/>
          </a:xfrm>
          <a:prstGeom prst="rect">
            <a:avLst/>
          </a:prstGeom>
        </p:spPr>
      </p:pic>
      <p:sp>
        <p:nvSpPr>
          <p:cNvPr id="14" name="Text 10"/>
          <p:cNvSpPr/>
          <p:nvPr/>
        </p:nvSpPr>
        <p:spPr>
          <a:xfrm>
            <a:off x="3474720" y="2423160"/>
            <a:ext cx="2194560" cy="502920"/>
          </a:xfrm>
          <a:prstGeom prst="rect">
            <a:avLst/>
          </a:prstGeom>
          <a:noFill/>
          <a:ln/>
        </p:spPr>
        <p:txBody>
          <a:bodyPr wrap="square" lIns="0" tIns="0" rIns="0" bIns="0" rtlCol="0" anchor="ctr"/>
          <a:lstStyle/>
          <a:p>
            <a:pPr marL="0" indent="0" algn="ctr">
              <a:buNone/>
            </a:pPr>
            <a:r>
              <a:rPr lang="en-US" sz="1400" b="1" dirty="0">
                <a:solidFill>
                  <a:srgbClr val="1E293B"/>
                </a:solidFill>
                <a:latin typeface="Trebuchet MS" pitchFamily="34" charset="0"/>
                <a:ea typeface="Trebuchet MS" pitchFamily="34" charset="-122"/>
                <a:cs typeface="Trebuchet MS" pitchFamily="34" charset="-120"/>
              </a:rPr>
              <a:t>Database</a:t>
            </a:r>
            <a:endParaRPr lang="en-US" sz="1400" dirty="0"/>
          </a:p>
          <a:p>
            <a:pPr marL="0" indent="0" algn="ctr">
              <a:buNone/>
            </a:pPr>
            <a:r>
              <a:rPr lang="en-US" sz="1400" b="1" dirty="0">
                <a:solidFill>
                  <a:srgbClr val="1E293B"/>
                </a:solidFill>
                <a:latin typeface="Trebuchet MS" pitchFamily="34" charset="0"/>
                <a:ea typeface="Trebuchet MS" pitchFamily="34" charset="-122"/>
                <a:cs typeface="Trebuchet MS" pitchFamily="34" charset="-120"/>
              </a:rPr>
              <a:t>Connection</a:t>
            </a:r>
            <a:endParaRPr lang="en-US" sz="1400" dirty="0"/>
          </a:p>
        </p:txBody>
      </p:sp>
      <p:sp>
        <p:nvSpPr>
          <p:cNvPr id="15" name="Text 11"/>
          <p:cNvSpPr/>
          <p:nvPr/>
        </p:nvSpPr>
        <p:spPr>
          <a:xfrm>
            <a:off x="3520440" y="2971800"/>
            <a:ext cx="2103120" cy="914400"/>
          </a:xfrm>
          <a:prstGeom prst="rect">
            <a:avLst/>
          </a:prstGeom>
          <a:noFill/>
          <a:ln/>
        </p:spPr>
        <p:txBody>
          <a:bodyPr wrap="square" lIns="0" tIns="0" rIns="0" bIns="0" rtlCol="0" anchor="t"/>
          <a:lstStyle/>
          <a:p>
            <a:pPr marL="0" indent="0" algn="ctr">
              <a:buNone/>
            </a:pPr>
            <a:r>
              <a:rPr lang="en-US" sz="1100" dirty="0">
                <a:solidFill>
                  <a:srgbClr val="64748B"/>
                </a:solidFill>
                <a:latin typeface="Calibri" pitchFamily="34" charset="0"/>
                <a:ea typeface="Calibri" pitchFamily="34" charset="-122"/>
                <a:cs typeface="Calibri" pitchFamily="34" charset="-120"/>
              </a:rPr>
              <a:t>Code that talks to</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InstantDB — reads data,</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writes data, listens for</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real-time updates.</a:t>
            </a:r>
            <a:endParaRPr lang="en-US" sz="1100" dirty="0"/>
          </a:p>
        </p:txBody>
      </p:sp>
      <p:sp>
        <p:nvSpPr>
          <p:cNvPr id="16" name="Shape 12"/>
          <p:cNvSpPr/>
          <p:nvPr/>
        </p:nvSpPr>
        <p:spPr>
          <a:xfrm>
            <a:off x="6172200" y="1371600"/>
            <a:ext cx="2468880" cy="2560320"/>
          </a:xfrm>
          <a:prstGeom prst="roundRect">
            <a:avLst>
              <a:gd name="adj" fmla="val 4444"/>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7" name="Shape 13"/>
          <p:cNvSpPr/>
          <p:nvPr/>
        </p:nvSpPr>
        <p:spPr>
          <a:xfrm>
            <a:off x="6172200" y="1371600"/>
            <a:ext cx="2468880" cy="54864"/>
          </a:xfrm>
          <a:prstGeom prst="rect">
            <a:avLst/>
          </a:prstGeom>
          <a:solidFill>
            <a:srgbClr val="0E7490"/>
          </a:solidFill>
          <a:ln/>
        </p:spPr>
        <p:txBody>
          <a:bodyPr/>
          <a:lstStyle/>
          <a:p>
            <a:endParaRPr lang="en-US"/>
          </a:p>
        </p:txBody>
      </p:sp>
      <p:sp>
        <p:nvSpPr>
          <p:cNvPr id="18" name="Shape 14"/>
          <p:cNvSpPr/>
          <p:nvPr/>
        </p:nvSpPr>
        <p:spPr>
          <a:xfrm>
            <a:off x="7086600" y="1645920"/>
            <a:ext cx="640080" cy="640080"/>
          </a:xfrm>
          <a:prstGeom prst="ellipse">
            <a:avLst/>
          </a:prstGeom>
          <a:solidFill>
            <a:srgbClr val="0E7490"/>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7223760" y="1783080"/>
            <a:ext cx="365760" cy="365760"/>
          </a:xfrm>
          <a:prstGeom prst="rect">
            <a:avLst/>
          </a:prstGeom>
        </p:spPr>
      </p:pic>
      <p:sp>
        <p:nvSpPr>
          <p:cNvPr id="20" name="Text 15"/>
          <p:cNvSpPr/>
          <p:nvPr/>
        </p:nvSpPr>
        <p:spPr>
          <a:xfrm>
            <a:off x="6309360" y="2423160"/>
            <a:ext cx="2194560" cy="502920"/>
          </a:xfrm>
          <a:prstGeom prst="rect">
            <a:avLst/>
          </a:prstGeom>
          <a:noFill/>
          <a:ln/>
        </p:spPr>
        <p:txBody>
          <a:bodyPr wrap="square" lIns="0" tIns="0" rIns="0" bIns="0" rtlCol="0" anchor="ctr"/>
          <a:lstStyle/>
          <a:p>
            <a:pPr marL="0" indent="0" algn="ctr">
              <a:buNone/>
            </a:pPr>
            <a:r>
              <a:rPr lang="en-US" sz="1400" b="1" dirty="0">
                <a:solidFill>
                  <a:srgbClr val="1E293B"/>
                </a:solidFill>
                <a:latin typeface="Trebuchet MS" pitchFamily="34" charset="0"/>
                <a:ea typeface="Trebuchet MS" pitchFamily="34" charset="-122"/>
                <a:cs typeface="Trebuchet MS" pitchFamily="34" charset="-120"/>
              </a:rPr>
              <a:t>Deploy</a:t>
            </a:r>
            <a:endParaRPr lang="en-US" sz="1400" dirty="0"/>
          </a:p>
          <a:p>
            <a:pPr marL="0" indent="0" algn="ctr">
              <a:buNone/>
            </a:pPr>
            <a:r>
              <a:rPr lang="en-US" sz="1400" b="1" dirty="0">
                <a:solidFill>
                  <a:srgbClr val="1E293B"/>
                </a:solidFill>
                <a:latin typeface="Trebuchet MS" pitchFamily="34" charset="0"/>
                <a:ea typeface="Trebuchet MS" pitchFamily="34" charset="-122"/>
                <a:cs typeface="Trebuchet MS" pitchFamily="34" charset="-120"/>
              </a:rPr>
              <a:t>Config</a:t>
            </a:r>
            <a:endParaRPr lang="en-US" sz="1400" dirty="0"/>
          </a:p>
        </p:txBody>
      </p:sp>
      <p:sp>
        <p:nvSpPr>
          <p:cNvPr id="21" name="Text 16"/>
          <p:cNvSpPr/>
          <p:nvPr/>
        </p:nvSpPr>
        <p:spPr>
          <a:xfrm>
            <a:off x="6355080" y="2971800"/>
            <a:ext cx="2103120" cy="914400"/>
          </a:xfrm>
          <a:prstGeom prst="rect">
            <a:avLst/>
          </a:prstGeom>
          <a:noFill/>
          <a:ln/>
        </p:spPr>
        <p:txBody>
          <a:bodyPr wrap="square" lIns="0" tIns="0" rIns="0" bIns="0" rtlCol="0" anchor="t"/>
          <a:lstStyle/>
          <a:p>
            <a:pPr marL="0" indent="0" algn="ctr">
              <a:buNone/>
            </a:pPr>
            <a:r>
              <a:rPr lang="en-US" sz="1100" dirty="0">
                <a:solidFill>
                  <a:srgbClr val="64748B"/>
                </a:solidFill>
                <a:latin typeface="Calibri" pitchFamily="34" charset="0"/>
                <a:ea typeface="Calibri" pitchFamily="34" charset="-122"/>
                <a:cs typeface="Calibri" pitchFamily="34" charset="-120"/>
              </a:rPr>
              <a:t>Settings that tell Vercel</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how to build and host</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your app, plus where</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to find your database.</a:t>
            </a:r>
            <a:endParaRPr lang="en-US" sz="1100" dirty="0"/>
          </a:p>
        </p:txBody>
      </p:sp>
      <p:sp>
        <p:nvSpPr>
          <p:cNvPr id="22" name="Shape 17"/>
          <p:cNvSpPr/>
          <p:nvPr/>
        </p:nvSpPr>
        <p:spPr>
          <a:xfrm>
            <a:off x="914400" y="4206240"/>
            <a:ext cx="7315200" cy="731520"/>
          </a:xfrm>
          <a:prstGeom prst="roundRect">
            <a:avLst>
              <a:gd name="adj" fmla="val 12500"/>
            </a:avLst>
          </a:prstGeom>
          <a:solidFill>
            <a:srgbClr val="FFFBEB"/>
          </a:solidFill>
          <a:ln w="12700">
            <a:solidFill>
              <a:srgbClr val="F59E0B"/>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1143000" y="4343400"/>
            <a:ext cx="411480" cy="411480"/>
          </a:xfrm>
          <a:prstGeom prst="rect">
            <a:avLst/>
          </a:prstGeom>
        </p:spPr>
      </p:pic>
      <p:sp>
        <p:nvSpPr>
          <p:cNvPr id="24" name="Text 18"/>
          <p:cNvSpPr/>
          <p:nvPr/>
        </p:nvSpPr>
        <p:spPr>
          <a:xfrm>
            <a:off x="1691640" y="4206240"/>
            <a:ext cx="6400800" cy="7315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You'll need an API key </a:t>
            </a:r>
            <a:r>
              <a:rPr lang="en-US" sz="1200" dirty="0">
                <a:solidFill>
                  <a:srgbClr val="334155"/>
                </a:solidFill>
                <a:latin typeface="Calibri" pitchFamily="34" charset="0"/>
                <a:ea typeface="Calibri" pitchFamily="34" charset="-122"/>
                <a:cs typeface="Calibri" pitchFamily="34" charset="-120"/>
              </a:rPr>
              <a:t>— a unique ID from InstantDB that tells your app where its database lives. </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48640" y="182880"/>
            <a:ext cx="8046720" cy="50292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The Full Picture</a:t>
            </a:r>
            <a:endParaRPr lang="en-US" sz="3200" dirty="0"/>
          </a:p>
        </p:txBody>
      </p:sp>
      <p:sp>
        <p:nvSpPr>
          <p:cNvPr id="3" name="Text 1"/>
          <p:cNvSpPr/>
          <p:nvPr/>
        </p:nvSpPr>
        <p:spPr>
          <a:xfrm>
            <a:off x="548640" y="640080"/>
            <a:ext cx="8046720" cy="274320"/>
          </a:xfrm>
          <a:prstGeom prst="rect">
            <a:avLst/>
          </a:prstGeom>
          <a:noFill/>
          <a:ln/>
        </p:spPr>
        <p:txBody>
          <a:bodyPr wrap="square" lIns="0" tIns="0" rIns="0" bIns="0" rtlCol="0" anchor="ctr"/>
          <a:lstStyle/>
          <a:p>
            <a:pPr marL="0" indent="0">
              <a:buNone/>
            </a:pPr>
            <a:r>
              <a:rPr lang="en-US" sz="1300" dirty="0">
                <a:solidFill>
                  <a:srgbClr val="22D3EE"/>
                </a:solidFill>
                <a:latin typeface="Calibri" pitchFamily="34" charset="0"/>
                <a:ea typeface="Calibri" pitchFamily="34" charset="-122"/>
                <a:cs typeface="Calibri" pitchFamily="34" charset="-120"/>
              </a:rPr>
              <a:t>Your complete workflow — from prompt to live app</a:t>
            </a:r>
            <a:endParaRPr lang="en-US" sz="1300" dirty="0"/>
          </a:p>
        </p:txBody>
      </p:sp>
      <p:sp>
        <p:nvSpPr>
          <p:cNvPr id="4" name="Shape 2"/>
          <p:cNvSpPr/>
          <p:nvPr/>
        </p:nvSpPr>
        <p:spPr>
          <a:xfrm>
            <a:off x="960120" y="1188720"/>
            <a:ext cx="2194560" cy="1463040"/>
          </a:xfrm>
          <a:prstGeom prst="roundRect">
            <a:avLst>
              <a:gd name="adj" fmla="val 6250"/>
            </a:avLst>
          </a:prstGeom>
          <a:solidFill>
            <a:srgbClr val="1E293B"/>
          </a:solidFill>
          <a:ln w="19050">
            <a:solidFill>
              <a:srgbClr val="0891B2"/>
            </a:solidFill>
            <a:prstDash val="solid"/>
          </a:ln>
        </p:spPr>
        <p:txBody>
          <a:bodyPr/>
          <a:lstStyle/>
          <a:p>
            <a:endParaRPr lang="en-US"/>
          </a:p>
        </p:txBody>
      </p:sp>
      <p:sp>
        <p:nvSpPr>
          <p:cNvPr id="5" name="Shape 3"/>
          <p:cNvSpPr/>
          <p:nvPr/>
        </p:nvSpPr>
        <p:spPr>
          <a:xfrm>
            <a:off x="1097280" y="1325880"/>
            <a:ext cx="365760" cy="365760"/>
          </a:xfrm>
          <a:prstGeom prst="ellipse">
            <a:avLst/>
          </a:prstGeom>
          <a:solidFill>
            <a:srgbClr val="0891B2"/>
          </a:solidFill>
          <a:ln/>
        </p:spPr>
        <p:txBody>
          <a:bodyPr/>
          <a:lstStyle/>
          <a:p>
            <a:endParaRPr lang="en-US"/>
          </a:p>
        </p:txBody>
      </p:sp>
      <p:sp>
        <p:nvSpPr>
          <p:cNvPr id="6" name="Text 4"/>
          <p:cNvSpPr/>
          <p:nvPr/>
        </p:nvSpPr>
        <p:spPr>
          <a:xfrm>
            <a:off x="1097280" y="13258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pic>
        <p:nvPicPr>
          <p:cNvPr id="7" name="Image 0" descr="preencoded.png"/>
          <p:cNvPicPr>
            <a:picLocks noChangeAspect="1"/>
          </p:cNvPicPr>
          <p:nvPr/>
        </p:nvPicPr>
        <p:blipFill>
          <a:blip r:embed="rId3"/>
          <a:stretch>
            <a:fillRect/>
          </a:stretch>
        </p:blipFill>
        <p:spPr>
          <a:xfrm>
            <a:off x="1554480" y="1325880"/>
            <a:ext cx="365760" cy="365760"/>
          </a:xfrm>
          <a:prstGeom prst="rect">
            <a:avLst/>
          </a:prstGeom>
        </p:spPr>
      </p:pic>
      <p:sp>
        <p:nvSpPr>
          <p:cNvPr id="8" name="Text 5"/>
          <p:cNvSpPr/>
          <p:nvPr/>
        </p:nvSpPr>
        <p:spPr>
          <a:xfrm>
            <a:off x="1097280" y="1783080"/>
            <a:ext cx="1920240" cy="457200"/>
          </a:xfrm>
          <a:prstGeom prst="rect">
            <a:avLst/>
          </a:prstGeom>
          <a:noFill/>
          <a:ln/>
        </p:spPr>
        <p:txBody>
          <a:bodyPr wrap="square" lIns="0" tIns="0" rIns="0" bIns="0" rtlCol="0" anchor="t"/>
          <a:lstStyle/>
          <a:p>
            <a:pPr marL="0" indent="0">
              <a:buNone/>
            </a:pPr>
            <a:r>
              <a:rPr lang="en-US" sz="1300" b="1" dirty="0">
                <a:solidFill>
                  <a:srgbClr val="FFFFFF"/>
                </a:solidFill>
                <a:latin typeface="Trebuchet MS" pitchFamily="34" charset="0"/>
                <a:ea typeface="Trebuchet MS" pitchFamily="34" charset="-122"/>
                <a:cs typeface="Trebuchet MS" pitchFamily="34" charset="-120"/>
              </a:rPr>
              <a:t>You write</a:t>
            </a:r>
            <a:endParaRPr lang="en-US" sz="1300" dirty="0"/>
          </a:p>
          <a:p>
            <a:pPr marL="0" indent="0">
              <a:buNone/>
            </a:pPr>
            <a:r>
              <a:rPr lang="en-US" sz="1300" b="1" dirty="0">
                <a:solidFill>
                  <a:srgbClr val="FFFFFF"/>
                </a:solidFill>
                <a:latin typeface="Trebuchet MS" pitchFamily="34" charset="0"/>
                <a:ea typeface="Trebuchet MS" pitchFamily="34" charset="-122"/>
                <a:cs typeface="Trebuchet MS" pitchFamily="34" charset="-120"/>
              </a:rPr>
              <a:t>a prompt</a:t>
            </a:r>
            <a:endParaRPr lang="en-US" sz="1300" dirty="0"/>
          </a:p>
        </p:txBody>
      </p:sp>
      <p:sp>
        <p:nvSpPr>
          <p:cNvPr id="9" name="Text 6"/>
          <p:cNvSpPr/>
          <p:nvPr/>
        </p:nvSpPr>
        <p:spPr>
          <a:xfrm>
            <a:off x="1097280" y="2240280"/>
            <a:ext cx="1920240" cy="32004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in Cursor</a:t>
            </a:r>
            <a:endParaRPr lang="en-US" sz="1100" dirty="0"/>
          </a:p>
        </p:txBody>
      </p:sp>
      <p:sp>
        <p:nvSpPr>
          <p:cNvPr id="10" name="Shape 7"/>
          <p:cNvSpPr/>
          <p:nvPr/>
        </p:nvSpPr>
        <p:spPr>
          <a:xfrm>
            <a:off x="3474720" y="1188720"/>
            <a:ext cx="2194560" cy="1463040"/>
          </a:xfrm>
          <a:prstGeom prst="roundRect">
            <a:avLst>
              <a:gd name="adj" fmla="val 6250"/>
            </a:avLst>
          </a:prstGeom>
          <a:solidFill>
            <a:srgbClr val="1E293B"/>
          </a:solidFill>
          <a:ln w="19050">
            <a:solidFill>
              <a:srgbClr val="06B6D4"/>
            </a:solidFill>
            <a:prstDash val="solid"/>
          </a:ln>
        </p:spPr>
        <p:txBody>
          <a:bodyPr/>
          <a:lstStyle/>
          <a:p>
            <a:endParaRPr lang="en-US"/>
          </a:p>
        </p:txBody>
      </p:sp>
      <p:sp>
        <p:nvSpPr>
          <p:cNvPr id="11" name="Shape 8"/>
          <p:cNvSpPr/>
          <p:nvPr/>
        </p:nvSpPr>
        <p:spPr>
          <a:xfrm>
            <a:off x="3611880" y="1325880"/>
            <a:ext cx="365760" cy="365760"/>
          </a:xfrm>
          <a:prstGeom prst="ellipse">
            <a:avLst/>
          </a:prstGeom>
          <a:solidFill>
            <a:srgbClr val="06B6D4"/>
          </a:solidFill>
          <a:ln/>
        </p:spPr>
        <p:txBody>
          <a:bodyPr/>
          <a:lstStyle/>
          <a:p>
            <a:endParaRPr lang="en-US"/>
          </a:p>
        </p:txBody>
      </p:sp>
      <p:sp>
        <p:nvSpPr>
          <p:cNvPr id="12" name="Text 9"/>
          <p:cNvSpPr/>
          <p:nvPr/>
        </p:nvSpPr>
        <p:spPr>
          <a:xfrm>
            <a:off x="3611880" y="13258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pic>
        <p:nvPicPr>
          <p:cNvPr id="13" name="Image 1" descr="preencoded.png"/>
          <p:cNvPicPr>
            <a:picLocks noChangeAspect="1"/>
          </p:cNvPicPr>
          <p:nvPr/>
        </p:nvPicPr>
        <p:blipFill>
          <a:blip r:embed="rId4"/>
          <a:stretch>
            <a:fillRect/>
          </a:stretch>
        </p:blipFill>
        <p:spPr>
          <a:xfrm>
            <a:off x="4069080" y="1325880"/>
            <a:ext cx="365760" cy="365760"/>
          </a:xfrm>
          <a:prstGeom prst="rect">
            <a:avLst/>
          </a:prstGeom>
        </p:spPr>
      </p:pic>
      <p:sp>
        <p:nvSpPr>
          <p:cNvPr id="14" name="Text 10"/>
          <p:cNvSpPr/>
          <p:nvPr/>
        </p:nvSpPr>
        <p:spPr>
          <a:xfrm>
            <a:off x="3611880" y="1783080"/>
            <a:ext cx="1920240" cy="457200"/>
          </a:xfrm>
          <a:prstGeom prst="rect">
            <a:avLst/>
          </a:prstGeom>
          <a:noFill/>
          <a:ln/>
        </p:spPr>
        <p:txBody>
          <a:bodyPr wrap="square" lIns="0" tIns="0" rIns="0" bIns="0" rtlCol="0" anchor="t"/>
          <a:lstStyle/>
          <a:p>
            <a:pPr marL="0" indent="0">
              <a:buNone/>
            </a:pPr>
            <a:r>
              <a:rPr lang="en-US" sz="1300" b="1" dirty="0">
                <a:solidFill>
                  <a:srgbClr val="FFFFFF"/>
                </a:solidFill>
                <a:latin typeface="Trebuchet MS" pitchFamily="34" charset="0"/>
                <a:ea typeface="Trebuchet MS" pitchFamily="34" charset="-122"/>
                <a:cs typeface="Trebuchet MS" pitchFamily="34" charset="-120"/>
              </a:rPr>
              <a:t>Cursor</a:t>
            </a:r>
            <a:endParaRPr lang="en-US" sz="1300" dirty="0"/>
          </a:p>
          <a:p>
            <a:pPr marL="0" indent="0">
              <a:buNone/>
            </a:pPr>
            <a:r>
              <a:rPr lang="en-US" sz="1300" b="1" dirty="0">
                <a:solidFill>
                  <a:srgbClr val="FFFFFF"/>
                </a:solidFill>
                <a:latin typeface="Trebuchet MS" pitchFamily="34" charset="0"/>
                <a:ea typeface="Trebuchet MS" pitchFamily="34" charset="-122"/>
                <a:cs typeface="Trebuchet MS" pitchFamily="34" charset="-120"/>
              </a:rPr>
              <a:t>generates</a:t>
            </a:r>
            <a:endParaRPr lang="en-US" sz="1300" dirty="0"/>
          </a:p>
        </p:txBody>
      </p:sp>
      <p:sp>
        <p:nvSpPr>
          <p:cNvPr id="15" name="Text 11"/>
          <p:cNvSpPr/>
          <p:nvPr/>
        </p:nvSpPr>
        <p:spPr>
          <a:xfrm>
            <a:off x="3611880" y="2240280"/>
            <a:ext cx="1920240" cy="32004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Next.js app</a:t>
            </a:r>
            <a:endParaRPr lang="en-US" sz="1100" dirty="0"/>
          </a:p>
        </p:txBody>
      </p:sp>
      <p:sp>
        <p:nvSpPr>
          <p:cNvPr id="16" name="Shape 12"/>
          <p:cNvSpPr/>
          <p:nvPr/>
        </p:nvSpPr>
        <p:spPr>
          <a:xfrm>
            <a:off x="5989320" y="1188720"/>
            <a:ext cx="2194560" cy="1463040"/>
          </a:xfrm>
          <a:prstGeom prst="roundRect">
            <a:avLst>
              <a:gd name="adj" fmla="val 6250"/>
            </a:avLst>
          </a:prstGeom>
          <a:solidFill>
            <a:srgbClr val="1E293B"/>
          </a:solidFill>
          <a:ln w="19050">
            <a:solidFill>
              <a:srgbClr val="6366F1"/>
            </a:solidFill>
            <a:prstDash val="solid"/>
          </a:ln>
        </p:spPr>
        <p:txBody>
          <a:bodyPr/>
          <a:lstStyle/>
          <a:p>
            <a:endParaRPr lang="en-US"/>
          </a:p>
        </p:txBody>
      </p:sp>
      <p:sp>
        <p:nvSpPr>
          <p:cNvPr id="17" name="Shape 13"/>
          <p:cNvSpPr/>
          <p:nvPr/>
        </p:nvSpPr>
        <p:spPr>
          <a:xfrm>
            <a:off x="6126480" y="1325880"/>
            <a:ext cx="365760" cy="365760"/>
          </a:xfrm>
          <a:prstGeom prst="ellipse">
            <a:avLst/>
          </a:prstGeom>
          <a:solidFill>
            <a:srgbClr val="6366F1"/>
          </a:solidFill>
          <a:ln/>
        </p:spPr>
        <p:txBody>
          <a:bodyPr/>
          <a:lstStyle/>
          <a:p>
            <a:endParaRPr lang="en-US"/>
          </a:p>
        </p:txBody>
      </p:sp>
      <p:sp>
        <p:nvSpPr>
          <p:cNvPr id="18" name="Text 14"/>
          <p:cNvSpPr/>
          <p:nvPr/>
        </p:nvSpPr>
        <p:spPr>
          <a:xfrm>
            <a:off x="6126480" y="13258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pic>
        <p:nvPicPr>
          <p:cNvPr id="19" name="Image 2" descr="preencoded.png"/>
          <p:cNvPicPr>
            <a:picLocks noChangeAspect="1"/>
          </p:cNvPicPr>
          <p:nvPr/>
        </p:nvPicPr>
        <p:blipFill>
          <a:blip r:embed="rId5"/>
          <a:stretch>
            <a:fillRect/>
          </a:stretch>
        </p:blipFill>
        <p:spPr>
          <a:xfrm>
            <a:off x="6583680" y="1325880"/>
            <a:ext cx="365760" cy="365760"/>
          </a:xfrm>
          <a:prstGeom prst="rect">
            <a:avLst/>
          </a:prstGeom>
        </p:spPr>
      </p:pic>
      <p:sp>
        <p:nvSpPr>
          <p:cNvPr id="20" name="Text 15"/>
          <p:cNvSpPr/>
          <p:nvPr/>
        </p:nvSpPr>
        <p:spPr>
          <a:xfrm>
            <a:off x="6126480" y="1783080"/>
            <a:ext cx="1920240" cy="457200"/>
          </a:xfrm>
          <a:prstGeom prst="rect">
            <a:avLst/>
          </a:prstGeom>
          <a:noFill/>
          <a:ln/>
        </p:spPr>
        <p:txBody>
          <a:bodyPr wrap="square" lIns="0" tIns="0" rIns="0" bIns="0" rtlCol="0" anchor="t"/>
          <a:lstStyle/>
          <a:p>
            <a:pPr marL="0" indent="0">
              <a:buNone/>
            </a:pPr>
            <a:r>
              <a:rPr lang="en-US" sz="1300" b="1" dirty="0">
                <a:solidFill>
                  <a:srgbClr val="FFFFFF"/>
                </a:solidFill>
                <a:latin typeface="Trebuchet MS" pitchFamily="34" charset="0"/>
                <a:ea typeface="Trebuchet MS" pitchFamily="34" charset="-122"/>
                <a:cs typeface="Trebuchet MS" pitchFamily="34" charset="-120"/>
              </a:rPr>
              <a:t>Code pushed</a:t>
            </a:r>
            <a:endParaRPr lang="en-US" sz="1300" dirty="0"/>
          </a:p>
          <a:p>
            <a:pPr marL="0" indent="0">
              <a:buNone/>
            </a:pPr>
            <a:r>
              <a:rPr lang="en-US" sz="1300" b="1" dirty="0">
                <a:solidFill>
                  <a:srgbClr val="FFFFFF"/>
                </a:solidFill>
                <a:latin typeface="Trebuchet MS" pitchFamily="34" charset="0"/>
                <a:ea typeface="Trebuchet MS" pitchFamily="34" charset="-122"/>
                <a:cs typeface="Trebuchet MS" pitchFamily="34" charset="-120"/>
              </a:rPr>
              <a:t>to GitHub</a:t>
            </a:r>
            <a:endParaRPr lang="en-US" sz="1300" dirty="0"/>
          </a:p>
        </p:txBody>
      </p:sp>
      <p:sp>
        <p:nvSpPr>
          <p:cNvPr id="21" name="Text 16"/>
          <p:cNvSpPr/>
          <p:nvPr/>
        </p:nvSpPr>
        <p:spPr>
          <a:xfrm>
            <a:off x="6126480" y="2240280"/>
            <a:ext cx="1920240" cy="32004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repository</a:t>
            </a:r>
            <a:endParaRPr lang="en-US" sz="1100" dirty="0"/>
          </a:p>
        </p:txBody>
      </p:sp>
      <p:sp>
        <p:nvSpPr>
          <p:cNvPr id="22" name="Shape 17"/>
          <p:cNvSpPr/>
          <p:nvPr/>
        </p:nvSpPr>
        <p:spPr>
          <a:xfrm>
            <a:off x="960120" y="3108960"/>
            <a:ext cx="2194560" cy="1463040"/>
          </a:xfrm>
          <a:prstGeom prst="roundRect">
            <a:avLst>
              <a:gd name="adj" fmla="val 6250"/>
            </a:avLst>
          </a:prstGeom>
          <a:solidFill>
            <a:srgbClr val="1E293B"/>
          </a:solidFill>
          <a:ln w="19050">
            <a:solidFill>
              <a:srgbClr val="8B5CF6"/>
            </a:solidFill>
            <a:prstDash val="solid"/>
          </a:ln>
        </p:spPr>
        <p:txBody>
          <a:bodyPr/>
          <a:lstStyle/>
          <a:p>
            <a:endParaRPr lang="en-US"/>
          </a:p>
        </p:txBody>
      </p:sp>
      <p:sp>
        <p:nvSpPr>
          <p:cNvPr id="23" name="Shape 18"/>
          <p:cNvSpPr/>
          <p:nvPr/>
        </p:nvSpPr>
        <p:spPr>
          <a:xfrm>
            <a:off x="1097280" y="3246120"/>
            <a:ext cx="365760" cy="365760"/>
          </a:xfrm>
          <a:prstGeom prst="ellipse">
            <a:avLst/>
          </a:prstGeom>
          <a:solidFill>
            <a:srgbClr val="8B5CF6"/>
          </a:solidFill>
          <a:ln/>
        </p:spPr>
        <p:txBody>
          <a:bodyPr/>
          <a:lstStyle/>
          <a:p>
            <a:endParaRPr lang="en-US"/>
          </a:p>
        </p:txBody>
      </p:sp>
      <p:sp>
        <p:nvSpPr>
          <p:cNvPr id="24" name="Text 19"/>
          <p:cNvSpPr/>
          <p:nvPr/>
        </p:nvSpPr>
        <p:spPr>
          <a:xfrm>
            <a:off x="1097280" y="32461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pic>
        <p:nvPicPr>
          <p:cNvPr id="25" name="Image 3" descr="preencoded.png"/>
          <p:cNvPicPr>
            <a:picLocks noChangeAspect="1"/>
          </p:cNvPicPr>
          <p:nvPr/>
        </p:nvPicPr>
        <p:blipFill>
          <a:blip r:embed="rId6"/>
          <a:stretch>
            <a:fillRect/>
          </a:stretch>
        </p:blipFill>
        <p:spPr>
          <a:xfrm>
            <a:off x="1554480" y="3246120"/>
            <a:ext cx="365760" cy="365760"/>
          </a:xfrm>
          <a:prstGeom prst="rect">
            <a:avLst/>
          </a:prstGeom>
        </p:spPr>
      </p:pic>
      <p:sp>
        <p:nvSpPr>
          <p:cNvPr id="26" name="Text 20"/>
          <p:cNvSpPr/>
          <p:nvPr/>
        </p:nvSpPr>
        <p:spPr>
          <a:xfrm>
            <a:off x="1097280" y="3703320"/>
            <a:ext cx="1920240" cy="457200"/>
          </a:xfrm>
          <a:prstGeom prst="rect">
            <a:avLst/>
          </a:prstGeom>
          <a:noFill/>
          <a:ln/>
        </p:spPr>
        <p:txBody>
          <a:bodyPr wrap="square" lIns="0" tIns="0" rIns="0" bIns="0" rtlCol="0" anchor="t"/>
          <a:lstStyle/>
          <a:p>
            <a:pPr marL="0" indent="0">
              <a:buNone/>
            </a:pPr>
            <a:r>
              <a:rPr lang="en-US" sz="1300" b="1" dirty="0">
                <a:solidFill>
                  <a:srgbClr val="FFFFFF"/>
                </a:solidFill>
                <a:latin typeface="Trebuchet MS" pitchFamily="34" charset="0"/>
                <a:ea typeface="Trebuchet MS" pitchFamily="34" charset="-122"/>
                <a:cs typeface="Trebuchet MS" pitchFamily="34" charset="-120"/>
              </a:rPr>
              <a:t>Vercel</a:t>
            </a:r>
            <a:endParaRPr lang="en-US" sz="1300" dirty="0"/>
          </a:p>
          <a:p>
            <a:pPr marL="0" indent="0">
              <a:buNone/>
            </a:pPr>
            <a:r>
              <a:rPr lang="en-US" sz="1300" b="1" dirty="0">
                <a:solidFill>
                  <a:srgbClr val="FFFFFF"/>
                </a:solidFill>
                <a:latin typeface="Trebuchet MS" pitchFamily="34" charset="0"/>
                <a:ea typeface="Trebuchet MS" pitchFamily="34" charset="-122"/>
                <a:cs typeface="Trebuchet MS" pitchFamily="34" charset="-120"/>
              </a:rPr>
              <a:t>auto-deploys</a:t>
            </a:r>
            <a:endParaRPr lang="en-US" sz="1300" dirty="0"/>
          </a:p>
        </p:txBody>
      </p:sp>
      <p:sp>
        <p:nvSpPr>
          <p:cNvPr id="27" name="Text 21"/>
          <p:cNvSpPr/>
          <p:nvPr/>
        </p:nvSpPr>
        <p:spPr>
          <a:xfrm>
            <a:off x="1097280" y="4160520"/>
            <a:ext cx="1920240" cy="32004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from GitHub</a:t>
            </a:r>
            <a:endParaRPr lang="en-US" sz="1100" dirty="0"/>
          </a:p>
        </p:txBody>
      </p:sp>
      <p:sp>
        <p:nvSpPr>
          <p:cNvPr id="28" name="Shape 22"/>
          <p:cNvSpPr/>
          <p:nvPr/>
        </p:nvSpPr>
        <p:spPr>
          <a:xfrm>
            <a:off x="3474720" y="3108960"/>
            <a:ext cx="2194560" cy="1463040"/>
          </a:xfrm>
          <a:prstGeom prst="roundRect">
            <a:avLst>
              <a:gd name="adj" fmla="val 6250"/>
            </a:avLst>
          </a:prstGeom>
          <a:solidFill>
            <a:srgbClr val="1E293B"/>
          </a:solidFill>
          <a:ln w="19050">
            <a:solidFill>
              <a:srgbClr val="F59E0B"/>
            </a:solidFill>
            <a:prstDash val="solid"/>
          </a:ln>
        </p:spPr>
        <p:txBody>
          <a:bodyPr/>
          <a:lstStyle/>
          <a:p>
            <a:endParaRPr lang="en-US"/>
          </a:p>
        </p:txBody>
      </p:sp>
      <p:sp>
        <p:nvSpPr>
          <p:cNvPr id="29" name="Shape 23"/>
          <p:cNvSpPr/>
          <p:nvPr/>
        </p:nvSpPr>
        <p:spPr>
          <a:xfrm>
            <a:off x="3611880" y="3246120"/>
            <a:ext cx="365760" cy="365760"/>
          </a:xfrm>
          <a:prstGeom prst="ellipse">
            <a:avLst/>
          </a:prstGeom>
          <a:solidFill>
            <a:srgbClr val="F59E0B"/>
          </a:solidFill>
          <a:ln/>
        </p:spPr>
        <p:txBody>
          <a:bodyPr/>
          <a:lstStyle/>
          <a:p>
            <a:endParaRPr lang="en-US"/>
          </a:p>
        </p:txBody>
      </p:sp>
      <p:sp>
        <p:nvSpPr>
          <p:cNvPr id="30" name="Text 24"/>
          <p:cNvSpPr/>
          <p:nvPr/>
        </p:nvSpPr>
        <p:spPr>
          <a:xfrm>
            <a:off x="3611880" y="32461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5</a:t>
            </a:r>
            <a:endParaRPr lang="en-US" sz="1400" dirty="0"/>
          </a:p>
        </p:txBody>
      </p:sp>
      <p:pic>
        <p:nvPicPr>
          <p:cNvPr id="31" name="Image 4" descr="preencoded.png"/>
          <p:cNvPicPr>
            <a:picLocks noChangeAspect="1"/>
          </p:cNvPicPr>
          <p:nvPr/>
        </p:nvPicPr>
        <p:blipFill>
          <a:blip r:embed="rId7"/>
          <a:stretch>
            <a:fillRect/>
          </a:stretch>
        </p:blipFill>
        <p:spPr>
          <a:xfrm>
            <a:off x="4069080" y="3246120"/>
            <a:ext cx="365760" cy="365760"/>
          </a:xfrm>
          <a:prstGeom prst="rect">
            <a:avLst/>
          </a:prstGeom>
        </p:spPr>
      </p:pic>
      <p:sp>
        <p:nvSpPr>
          <p:cNvPr id="32" name="Text 25"/>
          <p:cNvSpPr/>
          <p:nvPr/>
        </p:nvSpPr>
        <p:spPr>
          <a:xfrm>
            <a:off x="3611880" y="3703320"/>
            <a:ext cx="1920240" cy="457200"/>
          </a:xfrm>
          <a:prstGeom prst="rect">
            <a:avLst/>
          </a:prstGeom>
          <a:noFill/>
          <a:ln/>
        </p:spPr>
        <p:txBody>
          <a:bodyPr wrap="square" lIns="0" tIns="0" rIns="0" bIns="0" rtlCol="0" anchor="t"/>
          <a:lstStyle/>
          <a:p>
            <a:pPr marL="0" indent="0">
              <a:buNone/>
            </a:pPr>
            <a:r>
              <a:rPr lang="en-US" sz="1300" b="1" dirty="0">
                <a:solidFill>
                  <a:srgbClr val="FFFFFF"/>
                </a:solidFill>
                <a:latin typeface="Trebuchet MS" pitchFamily="34" charset="0"/>
                <a:ea typeface="Trebuchet MS" pitchFamily="34" charset="-122"/>
                <a:cs typeface="Trebuchet MS" pitchFamily="34" charset="-120"/>
              </a:rPr>
              <a:t>User visits</a:t>
            </a:r>
            <a:endParaRPr lang="en-US" sz="1300" dirty="0"/>
          </a:p>
          <a:p>
            <a:pPr marL="0" indent="0">
              <a:buNone/>
            </a:pPr>
            <a:r>
              <a:rPr lang="en-US" sz="1300" b="1" dirty="0">
                <a:solidFill>
                  <a:srgbClr val="FFFFFF"/>
                </a:solidFill>
                <a:latin typeface="Trebuchet MS" pitchFamily="34" charset="0"/>
                <a:ea typeface="Trebuchet MS" pitchFamily="34" charset="-122"/>
                <a:cs typeface="Trebuchet MS" pitchFamily="34" charset="-120"/>
              </a:rPr>
              <a:t>live URL</a:t>
            </a:r>
            <a:endParaRPr lang="en-US" sz="1300" dirty="0"/>
          </a:p>
        </p:txBody>
      </p:sp>
      <p:sp>
        <p:nvSpPr>
          <p:cNvPr id="33" name="Text 26"/>
          <p:cNvSpPr/>
          <p:nvPr/>
        </p:nvSpPr>
        <p:spPr>
          <a:xfrm>
            <a:off x="3611880" y="4160520"/>
            <a:ext cx="1920240" cy="32004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your-app.vercel.app</a:t>
            </a:r>
            <a:endParaRPr lang="en-US" sz="1100" dirty="0"/>
          </a:p>
        </p:txBody>
      </p:sp>
      <p:sp>
        <p:nvSpPr>
          <p:cNvPr id="34" name="Shape 27"/>
          <p:cNvSpPr/>
          <p:nvPr/>
        </p:nvSpPr>
        <p:spPr>
          <a:xfrm>
            <a:off x="5989320" y="3108960"/>
            <a:ext cx="2194560" cy="1463040"/>
          </a:xfrm>
          <a:prstGeom prst="roundRect">
            <a:avLst>
              <a:gd name="adj" fmla="val 6250"/>
            </a:avLst>
          </a:prstGeom>
          <a:solidFill>
            <a:srgbClr val="1E293B"/>
          </a:solidFill>
          <a:ln w="19050">
            <a:solidFill>
              <a:srgbClr val="10B981"/>
            </a:solidFill>
            <a:prstDash val="solid"/>
          </a:ln>
        </p:spPr>
        <p:txBody>
          <a:bodyPr/>
          <a:lstStyle/>
          <a:p>
            <a:endParaRPr lang="en-US"/>
          </a:p>
        </p:txBody>
      </p:sp>
      <p:sp>
        <p:nvSpPr>
          <p:cNvPr id="35" name="Shape 28"/>
          <p:cNvSpPr/>
          <p:nvPr/>
        </p:nvSpPr>
        <p:spPr>
          <a:xfrm>
            <a:off x="6126480" y="3246120"/>
            <a:ext cx="365760" cy="365760"/>
          </a:xfrm>
          <a:prstGeom prst="ellipse">
            <a:avLst/>
          </a:prstGeom>
          <a:solidFill>
            <a:srgbClr val="10B981"/>
          </a:solidFill>
          <a:ln/>
        </p:spPr>
        <p:txBody>
          <a:bodyPr/>
          <a:lstStyle/>
          <a:p>
            <a:endParaRPr lang="en-US"/>
          </a:p>
        </p:txBody>
      </p:sp>
      <p:sp>
        <p:nvSpPr>
          <p:cNvPr id="36" name="Text 29"/>
          <p:cNvSpPr/>
          <p:nvPr/>
        </p:nvSpPr>
        <p:spPr>
          <a:xfrm>
            <a:off x="6126480" y="32461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6</a:t>
            </a:r>
            <a:endParaRPr lang="en-US" sz="1400" dirty="0"/>
          </a:p>
        </p:txBody>
      </p:sp>
      <p:pic>
        <p:nvPicPr>
          <p:cNvPr id="37" name="Image 5" descr="preencoded.png"/>
          <p:cNvPicPr>
            <a:picLocks noChangeAspect="1"/>
          </p:cNvPicPr>
          <p:nvPr/>
        </p:nvPicPr>
        <p:blipFill>
          <a:blip r:embed="rId8"/>
          <a:stretch>
            <a:fillRect/>
          </a:stretch>
        </p:blipFill>
        <p:spPr>
          <a:xfrm>
            <a:off x="6583680" y="3246120"/>
            <a:ext cx="365760" cy="365760"/>
          </a:xfrm>
          <a:prstGeom prst="rect">
            <a:avLst/>
          </a:prstGeom>
        </p:spPr>
      </p:pic>
      <p:sp>
        <p:nvSpPr>
          <p:cNvPr id="38" name="Text 30"/>
          <p:cNvSpPr/>
          <p:nvPr/>
        </p:nvSpPr>
        <p:spPr>
          <a:xfrm>
            <a:off x="6126480" y="3703320"/>
            <a:ext cx="1920240" cy="457200"/>
          </a:xfrm>
          <a:prstGeom prst="rect">
            <a:avLst/>
          </a:prstGeom>
          <a:noFill/>
          <a:ln/>
        </p:spPr>
        <p:txBody>
          <a:bodyPr wrap="square" lIns="0" tIns="0" rIns="0" bIns="0" rtlCol="0" anchor="t"/>
          <a:lstStyle/>
          <a:p>
            <a:pPr marL="0" indent="0">
              <a:buNone/>
            </a:pPr>
            <a:r>
              <a:rPr lang="en-US" sz="1300" b="1" dirty="0">
                <a:solidFill>
                  <a:srgbClr val="FFFFFF"/>
                </a:solidFill>
                <a:latin typeface="Trebuchet MS" pitchFamily="34" charset="0"/>
                <a:ea typeface="Trebuchet MS" pitchFamily="34" charset="-122"/>
                <a:cs typeface="Trebuchet MS" pitchFamily="34" charset="-120"/>
              </a:rPr>
              <a:t>App reads/</a:t>
            </a:r>
            <a:endParaRPr lang="en-US" sz="1300" dirty="0"/>
          </a:p>
          <a:p>
            <a:pPr marL="0" indent="0">
              <a:buNone/>
            </a:pPr>
            <a:r>
              <a:rPr lang="en-US" sz="1300" b="1" dirty="0">
                <a:solidFill>
                  <a:srgbClr val="FFFFFF"/>
                </a:solidFill>
                <a:latin typeface="Trebuchet MS" pitchFamily="34" charset="0"/>
                <a:ea typeface="Trebuchet MS" pitchFamily="34" charset="-122"/>
                <a:cs typeface="Trebuchet MS" pitchFamily="34" charset="-120"/>
              </a:rPr>
              <a:t>writes data</a:t>
            </a:r>
            <a:endParaRPr lang="en-US" sz="1300" dirty="0"/>
          </a:p>
        </p:txBody>
      </p:sp>
      <p:sp>
        <p:nvSpPr>
          <p:cNvPr id="39" name="Text 31"/>
          <p:cNvSpPr/>
          <p:nvPr/>
        </p:nvSpPr>
        <p:spPr>
          <a:xfrm>
            <a:off x="6126480" y="4160520"/>
            <a:ext cx="1920240" cy="32004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via InstantDB</a:t>
            </a:r>
            <a:endParaRPr lang="en-US" sz="1100" dirty="0"/>
          </a:p>
        </p:txBody>
      </p:sp>
      <p:sp>
        <p:nvSpPr>
          <p:cNvPr id="40" name="Text 32"/>
          <p:cNvSpPr/>
          <p:nvPr/>
        </p:nvSpPr>
        <p:spPr>
          <a:xfrm>
            <a:off x="3182112" y="1645920"/>
            <a:ext cx="320040" cy="365760"/>
          </a:xfrm>
          <a:prstGeom prst="rect">
            <a:avLst/>
          </a:prstGeom>
          <a:noFill/>
          <a:ln/>
        </p:spPr>
        <p:txBody>
          <a:bodyPr wrap="square" lIns="0" tIns="0" rIns="0" bIns="0" rtlCol="0" anchor="ctr"/>
          <a:lstStyle/>
          <a:p>
            <a:pPr marL="0" indent="0" algn="ctr">
              <a:buNone/>
            </a:pPr>
            <a:r>
              <a:rPr lang="en-US" sz="1800" dirty="0">
                <a:solidFill>
                  <a:srgbClr val="22D3EE"/>
                </a:solidFill>
                <a:latin typeface="Calibri" pitchFamily="34" charset="0"/>
                <a:ea typeface="Calibri" pitchFamily="34" charset="-122"/>
                <a:cs typeface="Calibri" pitchFamily="34" charset="-120"/>
              </a:rPr>
              <a:t>→</a:t>
            </a:r>
            <a:endParaRPr lang="en-US" sz="1800" dirty="0"/>
          </a:p>
        </p:txBody>
      </p:sp>
      <p:sp>
        <p:nvSpPr>
          <p:cNvPr id="41" name="Text 33"/>
          <p:cNvSpPr/>
          <p:nvPr/>
        </p:nvSpPr>
        <p:spPr>
          <a:xfrm>
            <a:off x="5696712" y="1645920"/>
            <a:ext cx="320040" cy="365760"/>
          </a:xfrm>
          <a:prstGeom prst="rect">
            <a:avLst/>
          </a:prstGeom>
          <a:noFill/>
          <a:ln/>
        </p:spPr>
        <p:txBody>
          <a:bodyPr wrap="square" lIns="0" tIns="0" rIns="0" bIns="0" rtlCol="0" anchor="ctr"/>
          <a:lstStyle/>
          <a:p>
            <a:pPr marL="0" indent="0" algn="ctr">
              <a:buNone/>
            </a:pPr>
            <a:r>
              <a:rPr lang="en-US" sz="1800" dirty="0">
                <a:solidFill>
                  <a:srgbClr val="22D3EE"/>
                </a:solidFill>
                <a:latin typeface="Calibri" pitchFamily="34" charset="0"/>
                <a:ea typeface="Calibri" pitchFamily="34" charset="-122"/>
                <a:cs typeface="Calibri" pitchFamily="34" charset="-120"/>
              </a:rPr>
              <a:t>→</a:t>
            </a:r>
            <a:endParaRPr lang="en-US" sz="1800" dirty="0"/>
          </a:p>
        </p:txBody>
      </p:sp>
      <p:sp>
        <p:nvSpPr>
          <p:cNvPr id="42" name="Text 34"/>
          <p:cNvSpPr/>
          <p:nvPr/>
        </p:nvSpPr>
        <p:spPr>
          <a:xfrm>
            <a:off x="7086600" y="2697480"/>
            <a:ext cx="457200" cy="365760"/>
          </a:xfrm>
          <a:prstGeom prst="rect">
            <a:avLst/>
          </a:prstGeom>
          <a:noFill/>
          <a:ln/>
        </p:spPr>
        <p:txBody>
          <a:bodyPr wrap="square" lIns="0" tIns="0" rIns="0" bIns="0" rtlCol="0" anchor="ctr"/>
          <a:lstStyle/>
          <a:p>
            <a:pPr marL="0" indent="0" algn="ctr">
              <a:buNone/>
            </a:pPr>
            <a:r>
              <a:rPr lang="en-US" sz="1800" dirty="0">
                <a:solidFill>
                  <a:srgbClr val="22D3EE"/>
                </a:solidFill>
                <a:latin typeface="Calibri" pitchFamily="34" charset="0"/>
                <a:ea typeface="Calibri" pitchFamily="34" charset="-122"/>
                <a:cs typeface="Calibri" pitchFamily="34" charset="-120"/>
              </a:rPr>
              <a:t>↓</a:t>
            </a:r>
            <a:endParaRPr lang="en-US" sz="1800" dirty="0"/>
          </a:p>
        </p:txBody>
      </p:sp>
      <p:sp>
        <p:nvSpPr>
          <p:cNvPr id="43" name="Text 35"/>
          <p:cNvSpPr/>
          <p:nvPr/>
        </p:nvSpPr>
        <p:spPr>
          <a:xfrm>
            <a:off x="3182112" y="3566160"/>
            <a:ext cx="320040" cy="365760"/>
          </a:xfrm>
          <a:prstGeom prst="rect">
            <a:avLst/>
          </a:prstGeom>
          <a:noFill/>
          <a:ln/>
        </p:spPr>
        <p:txBody>
          <a:bodyPr wrap="square" lIns="0" tIns="0" rIns="0" bIns="0" rtlCol="0" anchor="ctr"/>
          <a:lstStyle/>
          <a:p>
            <a:pPr marL="0" indent="0" algn="ctr">
              <a:buNone/>
            </a:pPr>
            <a:r>
              <a:rPr lang="en-US" sz="1800" dirty="0">
                <a:solidFill>
                  <a:srgbClr val="22D3EE"/>
                </a:solidFill>
                <a:latin typeface="Calibri" pitchFamily="34" charset="0"/>
                <a:ea typeface="Calibri" pitchFamily="34" charset="-122"/>
                <a:cs typeface="Calibri" pitchFamily="34" charset="-120"/>
              </a:rPr>
              <a:t>→</a:t>
            </a:r>
            <a:endParaRPr lang="en-US" sz="1800" dirty="0"/>
          </a:p>
        </p:txBody>
      </p:sp>
      <p:sp>
        <p:nvSpPr>
          <p:cNvPr id="44" name="Text 36"/>
          <p:cNvSpPr/>
          <p:nvPr/>
        </p:nvSpPr>
        <p:spPr>
          <a:xfrm>
            <a:off x="5696712" y="3566160"/>
            <a:ext cx="320040" cy="365760"/>
          </a:xfrm>
          <a:prstGeom prst="rect">
            <a:avLst/>
          </a:prstGeom>
          <a:noFill/>
          <a:ln/>
        </p:spPr>
        <p:txBody>
          <a:bodyPr wrap="square" lIns="0" tIns="0" rIns="0" bIns="0" rtlCol="0" anchor="ctr"/>
          <a:lstStyle/>
          <a:p>
            <a:pPr marL="0" indent="0" algn="ctr">
              <a:buNone/>
            </a:pPr>
            <a:r>
              <a:rPr lang="en-US" sz="1800" dirty="0">
                <a:solidFill>
                  <a:srgbClr val="22D3EE"/>
                </a:solidFill>
                <a:latin typeface="Calibri" pitchFamily="34" charset="0"/>
                <a:ea typeface="Calibri" pitchFamily="34" charset="-122"/>
                <a:cs typeface="Calibri" pitchFamily="34" charset="-120"/>
              </a:rPr>
              <a:t>→</a:t>
            </a:r>
            <a:endParaRPr lang="en-US" sz="1800" dirty="0"/>
          </a:p>
        </p:txBody>
      </p:sp>
      <p:sp>
        <p:nvSpPr>
          <p:cNvPr id="45" name="Shape 37"/>
          <p:cNvSpPr/>
          <p:nvPr/>
        </p:nvSpPr>
        <p:spPr>
          <a:xfrm>
            <a:off x="1371600" y="4572000"/>
            <a:ext cx="6400800" cy="411480"/>
          </a:xfrm>
          <a:prstGeom prst="roundRect">
            <a:avLst>
              <a:gd name="adj" fmla="val 17778"/>
            </a:avLst>
          </a:prstGeom>
          <a:solidFill>
            <a:srgbClr val="1E293B"/>
          </a:solidFill>
          <a:ln w="12700">
            <a:solidFill>
              <a:srgbClr val="10B981"/>
            </a:solidFill>
            <a:prstDash val="solid"/>
          </a:ln>
        </p:spPr>
        <p:txBody>
          <a:bodyPr/>
          <a:lstStyle/>
          <a:p>
            <a:endParaRPr lang="en-US"/>
          </a:p>
        </p:txBody>
      </p:sp>
      <p:sp>
        <p:nvSpPr>
          <p:cNvPr id="46" name="Text 38"/>
          <p:cNvSpPr/>
          <p:nvPr/>
        </p:nvSpPr>
        <p:spPr>
          <a:xfrm>
            <a:off x="1371600" y="4572000"/>
            <a:ext cx="6400800" cy="411480"/>
          </a:xfrm>
          <a:prstGeom prst="rect">
            <a:avLst/>
          </a:prstGeom>
          <a:noFill/>
          <a:ln/>
        </p:spPr>
        <p:txBody>
          <a:bodyPr wrap="square" lIns="0" tIns="0" rIns="0" bIns="0" rtlCol="0" anchor="ctr"/>
          <a:lstStyle/>
          <a:p>
            <a:pPr marL="0" indent="0" algn="ctr">
              <a:buNone/>
            </a:pPr>
            <a:r>
              <a:rPr lang="en-US" sz="1200" dirty="0">
                <a:solidFill>
                  <a:srgbClr val="10B981"/>
                </a:solidFill>
                <a:latin typeface="Calibri" pitchFamily="34" charset="0"/>
                <a:ea typeface="Calibri" pitchFamily="34" charset="-122"/>
                <a:cs typeface="Calibri" pitchFamily="34" charset="-120"/>
              </a:rPr>
              <a:t>From idea to live app — this is the workflow you're learning tonight.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p:cNvGrpSpPr/>
        <p:nvPr/>
      </p:nvGrpSpPr>
      <p:grpSpPr>
        <a:xfrm>
          <a:off x="0" y="0"/>
          <a:ext cx="0" cy="0"/>
          <a:chOff x="0" y="0"/>
          <a:chExt cx="0" cy="0"/>
        </a:xfrm>
      </p:grpSpPr>
      <p:pic>
        <p:nvPicPr>
          <p:cNvPr id="3" name="Picture 2" descr="A screenshot of a black screen&#10;&#10;AI-generated content may be incorrect.">
            <a:extLst>
              <a:ext uri="{FF2B5EF4-FFF2-40B4-BE49-F238E27FC236}">
                <a16:creationId xmlns:a16="http://schemas.microsoft.com/office/drawing/2014/main" id="{A191DC36-9053-AF98-5D31-3AAC9591A980}"/>
              </a:ext>
            </a:extLst>
          </p:cNvPr>
          <p:cNvPicPr>
            <a:picLocks noChangeAspect="1"/>
          </p:cNvPicPr>
          <p:nvPr/>
        </p:nvPicPr>
        <p:blipFill>
          <a:blip r:embed="rId2"/>
          <a:stretch>
            <a:fillRect/>
          </a:stretch>
        </p:blipFill>
        <p:spPr>
          <a:xfrm>
            <a:off x="837610" y="880582"/>
            <a:ext cx="7772400" cy="2925566"/>
          </a:xfrm>
          <a:prstGeom prst="rect">
            <a:avLst/>
          </a:prstGeom>
        </p:spPr>
      </p:pic>
    </p:spTree>
    <p:extLst>
      <p:ext uri="{BB962C8B-B14F-4D97-AF65-F5344CB8AC3E}">
        <p14:creationId xmlns:p14="http://schemas.microsoft.com/office/powerpoint/2010/main" val="2931630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6BBC16E-FD61-1619-CC67-60894F51419B}"/>
              </a:ext>
            </a:extLst>
          </p:cNvPr>
          <p:cNvSpPr txBox="1"/>
          <p:nvPr/>
        </p:nvSpPr>
        <p:spPr>
          <a:xfrm>
            <a:off x="263951" y="263951"/>
            <a:ext cx="8446416" cy="646331"/>
          </a:xfrm>
          <a:prstGeom prst="rect">
            <a:avLst/>
          </a:prstGeom>
          <a:noFill/>
        </p:spPr>
        <p:txBody>
          <a:bodyPr wrap="square" rtlCol="0">
            <a:spAutoFit/>
          </a:bodyPr>
          <a:lstStyle/>
          <a:p>
            <a:r>
              <a:rPr lang="en-US" sz="3600" dirty="0"/>
              <a:t>Part 2: Build Your Own Web App</a:t>
            </a:r>
          </a:p>
        </p:txBody>
      </p:sp>
      <p:sp>
        <p:nvSpPr>
          <p:cNvPr id="7" name="TextBox 6">
            <a:extLst>
              <a:ext uri="{FF2B5EF4-FFF2-40B4-BE49-F238E27FC236}">
                <a16:creationId xmlns:a16="http://schemas.microsoft.com/office/drawing/2014/main" id="{8BC11710-D87E-8326-4A9E-3B5D79E49B6E}"/>
              </a:ext>
            </a:extLst>
          </p:cNvPr>
          <p:cNvSpPr txBox="1"/>
          <p:nvPr/>
        </p:nvSpPr>
        <p:spPr>
          <a:xfrm>
            <a:off x="537328" y="1102936"/>
            <a:ext cx="8031637" cy="3672800"/>
          </a:xfrm>
          <a:prstGeom prst="rect">
            <a:avLst/>
          </a:prstGeom>
          <a:noFill/>
        </p:spPr>
        <p:txBody>
          <a:bodyPr wrap="square" rtlCol="0">
            <a:spAutoFit/>
          </a:bodyPr>
          <a:lstStyle/>
          <a:p>
            <a:r>
              <a:rPr lang="en-US" dirty="0"/>
              <a:t>Work with your neighbors at your own pace</a:t>
            </a:r>
          </a:p>
          <a:p>
            <a:r>
              <a:rPr lang="en-US" dirty="0"/>
              <a:t>Follow the steps on the </a:t>
            </a:r>
            <a:r>
              <a:rPr lang="en-US" dirty="0">
                <a:highlight>
                  <a:srgbClr val="FFFF00"/>
                </a:highlight>
              </a:rPr>
              <a:t>Build Your Own Web App</a:t>
            </a:r>
            <a:r>
              <a:rPr lang="en-US" dirty="0"/>
              <a:t> page:</a:t>
            </a:r>
          </a:p>
          <a:p>
            <a:pPr lvl="1"/>
            <a:r>
              <a:rPr lang="en-US" dirty="0" err="1">
                <a:highlight>
                  <a:srgbClr val="00FFFF"/>
                </a:highlight>
              </a:rPr>
              <a:t>aboottogo.github.io</a:t>
            </a:r>
            <a:r>
              <a:rPr lang="en-US" dirty="0">
                <a:highlight>
                  <a:srgbClr val="00FFFF"/>
                </a:highlight>
              </a:rPr>
              <a:t>/ai-bootcamp</a:t>
            </a:r>
          </a:p>
          <a:p>
            <a:r>
              <a:rPr lang="en-US" dirty="0"/>
              <a:t>You’re going to build a </a:t>
            </a:r>
            <a:r>
              <a:rPr lang="en-US" b="1" dirty="0"/>
              <a:t>how-to tutorial website</a:t>
            </a:r>
            <a:r>
              <a:rPr lang="en-US" dirty="0"/>
              <a:t> for your app idea – not the app itself – and publish it to GitHub Pages</a:t>
            </a:r>
          </a:p>
          <a:p>
            <a:pPr marL="914400" lvl="1" indent="-457200">
              <a:buFont typeface="+mj-lt"/>
              <a:buAutoNum type="arabicPeriod"/>
            </a:pPr>
            <a:r>
              <a:rPr lang="en-US" dirty="0"/>
              <a:t>Plan and Build the website in Cursor</a:t>
            </a:r>
          </a:p>
          <a:p>
            <a:pPr lvl="2"/>
            <a:r>
              <a:rPr lang="en-US" dirty="0"/>
              <a:t>Copy the prompt </a:t>
            </a:r>
            <a:r>
              <a:rPr lang="en-US" b="1" dirty="0"/>
              <a:t>exactly as it is given</a:t>
            </a:r>
            <a:r>
              <a:rPr lang="en-US" dirty="0"/>
              <a:t>; attach </a:t>
            </a:r>
            <a:r>
              <a:rPr lang="en-US" b="1" dirty="0"/>
              <a:t>my-app-</a:t>
            </a:r>
            <a:r>
              <a:rPr lang="en-US" b="1" dirty="0" err="1"/>
              <a:t>idea.md</a:t>
            </a:r>
            <a:endParaRPr lang="en-US" b="1" dirty="0"/>
          </a:p>
          <a:p>
            <a:pPr lvl="2"/>
            <a:r>
              <a:rPr lang="en-US" dirty="0"/>
              <a:t>Examples of </a:t>
            </a:r>
            <a:r>
              <a:rPr lang="en-US" b="1" dirty="0"/>
              <a:t>my-app-</a:t>
            </a:r>
            <a:r>
              <a:rPr lang="en-US" b="1" dirty="0" err="1"/>
              <a:t>idea.md</a:t>
            </a:r>
            <a:r>
              <a:rPr lang="en-US" dirty="0"/>
              <a:t> can be downloaded from </a:t>
            </a:r>
            <a:r>
              <a:rPr lang="en-US" dirty="0">
                <a:highlight>
                  <a:srgbClr val="FFFF00"/>
                </a:highlight>
              </a:rPr>
              <a:t>Project Ideas</a:t>
            </a:r>
            <a:r>
              <a:rPr lang="en-US" dirty="0"/>
              <a:t> page</a:t>
            </a:r>
          </a:p>
          <a:p>
            <a:pPr marL="914400" lvl="1" indent="-457200">
              <a:buFont typeface="+mj-lt"/>
              <a:buAutoNum type="arabicPeriod"/>
            </a:pPr>
            <a:r>
              <a:rPr lang="en-US" dirty="0"/>
              <a:t>Push to a new repository on </a:t>
            </a:r>
            <a:r>
              <a:rPr lang="en-US" dirty="0" err="1"/>
              <a:t>GitHub.com</a:t>
            </a:r>
            <a:endParaRPr lang="en-US" dirty="0"/>
          </a:p>
          <a:p>
            <a:pPr marL="914400" lvl="1" indent="-457200">
              <a:buFont typeface="+mj-lt"/>
              <a:buAutoNum type="arabicPeriod"/>
            </a:pPr>
            <a:r>
              <a:rPr lang="en-US" dirty="0"/>
              <a:t>Publish your website to GitHub Pages</a:t>
            </a:r>
          </a:p>
          <a:p>
            <a:pPr marL="0" lvl="1" indent="0">
              <a:spcBef>
                <a:spcPts val="1000"/>
              </a:spcBef>
              <a:buNone/>
            </a:pPr>
            <a:r>
              <a:rPr lang="en-US" dirty="0"/>
              <a:t>You can work anywhere on the 3</a:t>
            </a:r>
            <a:r>
              <a:rPr lang="en-US" baseline="30000" dirty="0"/>
              <a:t>rd</a:t>
            </a:r>
            <a:r>
              <a:rPr lang="en-US" dirty="0"/>
              <a:t> floor, just be back by 7:50.</a:t>
            </a:r>
          </a:p>
          <a:p>
            <a:pPr marL="0" lvl="1" indent="0">
              <a:spcBef>
                <a:spcPts val="1000"/>
              </a:spcBef>
              <a:buNone/>
            </a:pPr>
            <a:r>
              <a:rPr lang="en-US" dirty="0"/>
              <a:t>Please sign-in if not already.</a:t>
            </a:r>
          </a:p>
        </p:txBody>
      </p:sp>
    </p:spTree>
    <p:extLst>
      <p:ext uri="{BB962C8B-B14F-4D97-AF65-F5344CB8AC3E}">
        <p14:creationId xmlns:p14="http://schemas.microsoft.com/office/powerpoint/2010/main" val="39755592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186</TotalTime>
  <Words>3573</Words>
  <Application>Microsoft Macintosh PowerPoint</Application>
  <PresentationFormat>On-screen Show (16:9)</PresentationFormat>
  <Paragraphs>185</Paragraphs>
  <Slides>14</Slides>
  <Notes>8</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Consolas</vt:lpstr>
      <vt:lpstr>Trebuchet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Static to Dynamic</dc:title>
  <dc:subject>PptxGenJS Presentation</dc:subject>
  <dc:creator>AI Bootcamp</dc:creator>
  <cp:lastModifiedBy>McMartin, Andrew</cp:lastModifiedBy>
  <cp:revision>17</cp:revision>
  <dcterms:created xsi:type="dcterms:W3CDTF">2026-03-10T15:38:03Z</dcterms:created>
  <dcterms:modified xsi:type="dcterms:W3CDTF">2026-03-10T19:25:58Z</dcterms:modified>
</cp:coreProperties>
</file>